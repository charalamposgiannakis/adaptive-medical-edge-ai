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1" r:id="rId22"/>
    <p:sldId id="275" r:id="rId26"/>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8B13CB-DE5A-421C-B712-8F18BBA52C59}">
  <a:tblStyle styleId="{C18B13CB-DE5A-421C-B712-8F18BBA52C5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2" Type="http://schemas.openxmlformats.org/officeDocument/2006/relationships/slide" Target="slides/slide16.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1d64fdef22e34805_3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h1d64fdef22e34805_3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CHARALAMPOS · ~0:15</a:t>
            </a:r>
            <a:endParaRPr/>
          </a:p>
          <a:p>
            <a:pPr indent="-298450" lvl="0" marL="457200" rtl="0" algn="l">
              <a:lnSpc>
                <a:spcPct val="100000"/>
              </a:lnSpc>
              <a:spcBef>
                <a:spcPts val="0"/>
              </a:spcBef>
              <a:spcAft>
                <a:spcPts val="0"/>
              </a:spcAft>
              <a:buSzPts val="1100"/>
              <a:buChar char="●"/>
            </a:pPr>
            <a:r>
              <a:rPr lang="en-US" sz="1100"/>
              <a:t>We examine adaptive lung-ultrasound inference under changing compute limits. Can one shared-weight model switch inference cost while keeping useful predictive quality? This is an OpenPOCUS technical proxy, not a clinical system.</a:t>
            </a:r>
            <a:endParaRPr/>
          </a:p>
          <a:p>
            <a:pPr indent="-298450" lvl="0" marL="457200" rtl="0" algn="l">
              <a:lnSpc>
                <a:spcPct val="100000"/>
              </a:lnSpc>
              <a:spcBef>
                <a:spcPts val="0"/>
              </a:spcBef>
              <a:spcAft>
                <a:spcPts val="0"/>
              </a:spcAft>
              <a:buSzPts val="1100"/>
              <a:buChar char="●"/>
            </a:pPr>
            <a:r>
              <a:rPr lang="en-US" sz="1100"/>
              <a:t>HANDOFF: Here is the ambulance-inspired constraint.</a:t>
            </a:r>
            <a:endParaRPr/>
          </a:p>
        </p:txBody>
      </p:sp>
      <p:sp>
        <p:nvSpPr>
          <p:cNvPr id="158" name="Google Shape;158;h1d64fdef22e34805_3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1d64fdef22e34805_3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h1d64fdef22e34805_3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CHARALAMPOS · ~0:35</a:t>
            </a:r>
            <a:endParaRPr/>
          </a:p>
          <a:p>
            <a:pPr indent="-298450" lvl="0" marL="457200" rtl="0" algn="l">
              <a:lnSpc>
                <a:spcPct val="100000"/>
              </a:lnSpc>
              <a:spcBef>
                <a:spcPts val="0"/>
              </a:spcBef>
              <a:spcAft>
                <a:spcPts val="0"/>
              </a:spcAft>
              <a:buSzPts val="1100"/>
              <a:buChar char="●"/>
            </a:pPr>
            <a:r>
              <a:rPr lang="en-US" sz="1100"/>
              <a:t>Imagine a tablet processing a lung ultrasound sequence. The computation available to an AI model may change because other applications need capacity or because of device constraints. A fixed high-cost model may have to defer; a small fixed model cannot use extra compute when it becomes available. Our question is whether one model can switch configurations as the allowed computation changes. We simulate the budget in FLOPs; we did not measure battery or temperature.</a:t>
            </a:r>
            <a:endParaRPr/>
          </a:p>
          <a:p>
            <a:pPr indent="-298450" lvl="0" marL="457200" rtl="0" algn="l">
              <a:lnSpc>
                <a:spcPct val="100000"/>
              </a:lnSpc>
              <a:spcBef>
                <a:spcPts val="0"/>
              </a:spcBef>
              <a:spcAft>
                <a:spcPts val="0"/>
              </a:spcAft>
              <a:buSzPts val="1100"/>
              <a:buChar char="●"/>
            </a:pPr>
            <a:r>
              <a:rPr lang="en-US" sz="1100"/>
              <a:t>HANDOFF: Salo will describe the actual dataset.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Q&amp;A / SCIENTIFIC CAVEATS (not spoken):</a:t>
            </a:r>
            <a:endParaRPr/>
          </a:p>
          <a:p>
            <a:pPr indent="-298450" lvl="0" marL="457200" rtl="0" algn="l">
              <a:lnSpc>
                <a:spcPct val="100000"/>
              </a:lnSpc>
              <a:spcBef>
                <a:spcPts val="0"/>
              </a:spcBef>
              <a:spcAft>
                <a:spcPts val="0"/>
              </a:spcAft>
              <a:buSzPts val="1100"/>
              <a:buChar char="●"/>
            </a:pPr>
            <a:r>
              <a:rPr lang="en-US" sz="1100"/>
              <a:t>The ambulance is a motivating scenario, not tested deployment. Budget b is a simulated model-work limit, not battery percentage. The bar chart is illustrative, not measured results.</a:t>
            </a:r>
            <a:endParaRPr/>
          </a:p>
        </p:txBody>
      </p:sp>
      <p:sp>
        <p:nvSpPr>
          <p:cNvPr id="174" name="Google Shape;174;h1d64fdef22e34805_3_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h1d64fdef22e34805_1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h1d64fdef22e34805_1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It was very difficult to find public clinical lung data, so we ended up using the OpenPOCUS dataset, which</a:t>
            </a:r>
          </a:p>
          <a:p>
            <a:r>
              <a:t>researchers at Stanford published in 2026 for neural network training.</a:t>
            </a:r>
          </a:p>
          <a:p>
            <a:r>
              <a:t>The dataset contains labelled videos of 226 exams, of which about half were in the COVID-19 group.</a:t>
            </a:r>
          </a:p>
          <a:p>
            <a:r>
              <a:t>The other half did not, so these were people with other lung problems or no lung problems at all.</a:t>
            </a:r>
          </a:p>
          <a:p>
            <a:r>
              <a:t>For each exam, up to 12 different regions of the chest were filmed.</a:t>
            </a:r>
          </a:p>
          <a:p>
            <a:r>
              <a:t>Each video was labelled with 1 of 5 labels.</a:t>
            </a:r>
          </a:p>
          <a:p>
            <a:r>
              <a:t>Either normal, 3 types of non-normal findings, or indeterminate, when the doctors could not agree.</a:t>
            </a:r>
          </a:p>
          <a:p>
            <a:r>
              <a:t>We ended up only keeping the abnormal and normal ones.</a:t>
            </a:r>
          </a:p>
          <a:p>
            <a:r>
              <a:t>We merged the 3 non-normal findings into one class, abnormal, because the separate findings were too rare to</a:t>
            </a:r>
          </a:p>
          <a:p>
            <a:r>
              <a:t>learn on their own.</a:t>
            </a:r>
          </a:p>
          <a:p>
            <a:r>
              <a:t>We finally ended up with 1,762 videos.</a:t>
            </a:r>
          </a:p>
          <a:p>
            <a:r>
              <a:t>Because 70% are normal, a model that always says "normal" already gets 70% accuracy.</a:t>
            </a:r>
          </a:p>
          <a:p>
            <a:r>
              <a:t>So we need to look at macro-F1 too, which scores both classes equally.</a:t>
            </a:r>
          </a:p>
          <a:p>
            <a:r>
              <a:t>We split them into train, validation and test using a stratified group split of 70/15/15.</a:t>
            </a:r>
          </a:p>
          <a:p>
            <a:r>
              <a:t>The split balances class proportions and separates known linked recordings; distinct biological patients cannot be verified from these identifiers.</a:t>
            </a:r>
          </a:p>
          <a:p>
            <a:r>
              <a:t>We only used the test set once, at the very end.</a:t>
            </a:r>
          </a:p>
          <a:p>
            <a:r>
              <a:t>Now let's look at the images.</a:t>
            </a:r>
          </a:p>
          <a:p>
            <a:r>
              <a:t>Here we can see what this looks like.</a:t>
            </a:r>
          </a:p>
          <a:p>
            <a:r>
              <a:t>The abnormal one shows B-lines, a bright vertical streak.</a:t>
            </a:r>
          </a:p>
          <a:p>
            <a:r>
              <a:t>Additionally, you can see that the frames from the video are super similar, spread throughout the video.</a:t>
            </a:r>
          </a:p>
          <a:p>
            <a:r>
              <a:t>That's why we only use 16 frames, spread evenly over the video.</a:t>
            </a:r>
          </a:p>
          <a:p>
            <a:r>
              <a:t>Using every frame costs about nine times more compute, and it scored no better than 16.</a:t>
            </a:r>
          </a:p>
          <a:p>
            <a:r>
              <a:t>On a tablet in an ambulance, that matters, because we can't afford 184 GFLOPs per clip.</a:t>
            </a:r>
          </a:p>
          <a:p>
            <a:r>
              <a:t>So the number of frames is something we can turn up or down.</a:t>
            </a:r>
          </a:p>
          <a:p>
            <a:r>
              <a:t>Fewer frames means less compute.</a:t>
            </a:r>
          </a:p>
          <a:p>
            <a:r>
              <a:t>That's the first knob of our adaptive system.</a:t>
            </a:r>
          </a:p>
          <a:p>
            <a:r>
              <a:t>But not every network handles fewer frames well, so next we had to pick the right one.</a:t>
            </a:r>
          </a:p>
          <a:p/>
        </p:txBody>
      </p:sp>
      <p:sp>
        <p:nvSpPr>
          <p:cNvPr id="198" name="Google Shape;198;h1d64fdef22e34805_1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1d64fdef22e34805_10_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h1d64fdef22e34805_10_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So we compared 4 networks on exactly that question, with rules we fixed before training, so we couldn't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pick a favourite afterwards.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Every model had to beat the 'always normal' macro-F1 of 0.41.</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DeiT-Tiny was bad and expensive at 16 frames, so we dropped it.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ResNet-18 scored lower and needed more compute, so it went too.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MobileNetV2 loses a lot when it gets fewer frames.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TinyViT barely moves.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Where the lines meet, both use the same compute and get the same score, so choosing TinyViT costs us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nothing.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And at 16 frames TinyViT costs four times more than MobileNetV2, so there's a lot of compute we can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take away, starting from the best score.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So TinyViT is our backbone.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Our static baseline is TinyViT at 16 frames, frozen before we built anything adaptive, and never retrained.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MobileNetV2 stays as a reference, to check that a small model doesn't simply beat us.</a:t>
            </a:r>
            <a:endParaRPr>
              <a:solidFill>
                <a:schemeClr val="dk1"/>
              </a:solidFill>
            </a:endParaRPr>
          </a:p>
          <a:p>
            <a:pPr indent="0" lvl="0" marL="0" rtl="0" algn="l">
              <a:lnSpc>
                <a:spcPct val="100000"/>
              </a:lnSpc>
              <a:spcBef>
                <a:spcPts val="0"/>
              </a:spcBef>
              <a:spcAft>
                <a:spcPts val="0"/>
              </a:spcAft>
              <a:buNone/>
            </a:pPr>
            <a:r>
              <a:t/>
            </a:r>
            <a:endParaRPr/>
          </a:p>
        </p:txBody>
      </p:sp>
      <p:sp>
        <p:nvSpPr>
          <p:cNvPr id="216" name="Google Shape;216;h1d64fdef22e34805_10_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3504984d0351f70b_3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h3504984d0351f70b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We also wanted to make the network itself cheaper.</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We first tried 8-bit quantization.</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The file got three times smaller, but it doesn't remove any calculations, so the FLOPs stayed the same</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and it couldn't move a single point on our plot.</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On our CPU it was even slightly slower.</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So we switched to </a:t>
            </a:r>
            <a:r>
              <a:rPr b="1" lang="en-US" sz="1050">
                <a:solidFill>
                  <a:schemeClr val="dk1"/>
                </a:solidFill>
              </a:rPr>
              <a:t>structured</a:t>
            </a:r>
            <a:r>
              <a:rPr lang="en-US" sz="1050">
                <a:solidFill>
                  <a:schemeClr val="dk1"/>
                </a:solidFill>
              </a:rPr>
              <a:t> pruning.</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We cut whole channels, because only then does the computation really shrink.</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We cut the inner channels, which carry 59 percent of the compute.</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To decide which channels go first, we compared two </a:t>
            </a:r>
            <a:r>
              <a:rPr b="1" lang="en-US" sz="1050">
                <a:solidFill>
                  <a:schemeClr val="dk1"/>
                </a:solidFill>
              </a:rPr>
              <a:t>rankings</a:t>
            </a:r>
            <a:r>
              <a:rPr lang="en-US" sz="1050">
                <a:solidFill>
                  <a:schemeClr val="dk1"/>
                </a:solidFill>
              </a:rPr>
              <a:t>.</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L1 looks at how big the weights are.</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050">
                <a:solidFill>
                  <a:schemeClr val="dk1"/>
                </a:solidFill>
              </a:rPr>
              <a:t>Taylor estimates how much the error would rise if a channel disappeared.</a:t>
            </a:r>
            <a:endParaRPr b="1"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That matters, because a channel with big weights can still do very little for our task.</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050">
                <a:solidFill>
                  <a:schemeClr val="dk1"/>
                </a:solidFill>
              </a:rPr>
              <a:t>On the left, right after cutting, Taylor does less damage at every width, so we used it.</a:t>
            </a:r>
            <a:endParaRPr b="1"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We kept 100, 75, 50 or 25 percent of the channels by Taylor score, so every smaller network sits inside</a:t>
            </a:r>
            <a:endParaRPr sz="105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US" sz="1050">
                <a:solidFill>
                  <a:schemeClr val="dk1"/>
                </a:solidFill>
              </a:rPr>
              <a:t>the bigger one, in one file.</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Then we retrained all widths together, with the original network as a frozen teacher, which is knowledge</a:t>
            </a:r>
            <a:endParaRPr sz="105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US" sz="1050">
                <a:solidFill>
                  <a:schemeClr val="dk1"/>
                </a:solidFill>
              </a:rPr>
              <a:t>distillation.</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In the middle, after retraining, Taylor still beats a random order.</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At 25 percent, random drops to 0.74 while Taylor keeps 0.85.</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050">
                <a:solidFill>
                  <a:schemeClr val="dk1"/>
                </a:solidFill>
              </a:rPr>
              <a:t>So the more we cut, the more it matters which channels we keep.</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On the right, fewer FLOPs really means faster on CPU, from 423 to 204 milliseconds per video.</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We also tried recalibrating batch-norm per width, but that made the narrow widths worse.</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50">
                <a:solidFill>
                  <a:schemeClr val="dk1"/>
                </a:solidFill>
              </a:rPr>
              <a:t>And we used the same percentage in every stage, so a separate percentage per stage is something we</a:t>
            </a:r>
            <a:endParaRPr sz="1050">
              <a:solidFill>
                <a:schemeClr val="dk1"/>
              </a:solidFill>
            </a:endParaRPr>
          </a:p>
          <a:p>
            <a:pPr indent="457200" lvl="0" marL="0" rtl="0" algn="l">
              <a:lnSpc>
                <a:spcPct val="115000"/>
              </a:lnSpc>
              <a:spcBef>
                <a:spcPts val="0"/>
              </a:spcBef>
              <a:spcAft>
                <a:spcPts val="0"/>
              </a:spcAft>
              <a:buClr>
                <a:schemeClr val="dk1"/>
              </a:buClr>
              <a:buSzPts val="1100"/>
              <a:buFont typeface="Arial"/>
              <a:buNone/>
            </a:pPr>
            <a:r>
              <a:rPr lang="en-US" sz="1050">
                <a:solidFill>
                  <a:schemeClr val="dk1"/>
                </a:solidFill>
              </a:rPr>
              <a:t>didn't test.</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050">
                <a:solidFill>
                  <a:schemeClr val="dk1"/>
                </a:solidFill>
              </a:rPr>
              <a:t>So pruning gives us our second knob.</a:t>
            </a:r>
            <a:endParaRPr b="1" sz="105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3504984d0351f70b_6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h3504984d0351f70b_6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a:solidFill>
                  <a:schemeClr val="dk1"/>
                </a:solidFill>
              </a:rPr>
              <a:t>Now we make our model adaptive.</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Adaptive means one model that changes its compute at runtime, depending on the budget.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We also tried early exits and lower resolution, but at the same cost both did worse than fewer frames.</a:t>
            </a:r>
            <a:endParaRPr>
              <a:solidFill>
                <a:schemeClr val="dk1"/>
              </a:solidFill>
            </a:endParaRPr>
          </a:p>
          <a:p>
            <a:pPr indent="0" lvl="0" marL="0" rtl="0" algn="l">
              <a:lnSpc>
                <a:spcPct val="115000"/>
              </a:lnSpc>
              <a:spcBef>
                <a:spcPts val="0"/>
              </a:spcBef>
              <a:spcAft>
                <a:spcPts val="0"/>
              </a:spcAft>
              <a:buSzPts val="1100"/>
              <a:buNone/>
            </a:pPr>
            <a:r>
              <a:rPr lang="en-US">
                <a:solidFill>
                  <a:schemeClr val="dk1"/>
                </a:solidFill>
              </a:rPr>
              <a:t>So we kept two dials, frames and width.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We trained one network for all 24 combinations.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Every step trains the full and the 25 percent width, because those are the hardest to keep good, plus one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middle width at random.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That's the sandwich rule.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We use the frozen teacher because without it, fine-tuning gave very different results between runs.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We trained it three times, and on average every width scores as well as the original network.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Then, at runtime, the system picks one of the 24 for every video.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Both dials are nested.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Less budget means we drop the orange frames, or the least important channels.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If the budget goes up mid-video, we only compute the new frames.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Going from 4 to 16 frames then costs 15.5 GFLOPs instead of 20.6.</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Switching width takes under a millisecond.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So this is one model that adapts at runtime, not four separately trained models.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All 24 fit in one 20 MB file, instead of 62 for four separate models.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We checked in torch that at every width, all 213 weight tensors are just the first part of the shared ones.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The only extra data are 16 small batch-norm buffers.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28600" lvl="0" marL="457200" rtl="0" algn="l">
              <a:lnSpc>
                <a:spcPct val="100000"/>
              </a:lnSpc>
              <a:spcBef>
                <a:spcPts val="0"/>
              </a:spcBef>
              <a:spcAft>
                <a:spcPts val="0"/>
              </a:spcAft>
              <a:buSzPts val="1100"/>
              <a:buNone/>
            </a:pPr>
            <a:r>
              <a:t/>
            </a:r>
            <a:endParaRPr/>
          </a:p>
        </p:txBody>
      </p:sp>
      <p:sp>
        <p:nvSpPr>
          <p:cNvPr id="249" name="Google Shape;249;h3504984d0351f70b_6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32d4380da2189d87_7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h32d4380da2189d87_7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SALO · ~1:15</a:t>
            </a:r>
          </a:p>
          <a:p>
            <a:r>
              <a:t>This is our validation macro-F1 against modeled computation per ultrasound sequence. We have 24 configurations from four widths and six possible frame counts, all sharing one checkpoint. The grey dots show these configurations; the dark staircase traces the best observed validation quality at each computational cost. The original full TinyViT is the star, and MobileNetV2 is the diamond.</a:t>
            </a:r>
          </a:p>
          <a:p>
            <a:r>
              <a:t>One example is width 50% with eight frames: it reaches nearly the original baseline's validation macro-F1 while requiring about 65% less computation. At full width and 16 frames, the nested model is also close to the original. These were validation observations, used to design the controller; selecting a frontier from the same validation split makes this plot optimistic.</a:t>
            </a:r>
          </a:p>
          <a:p>
            <a:r>
              <a:t>The next slides show our frozen choices and the independent held-out evaluation.</a:t>
            </a:r>
          </a:p>
          <a:p/>
          <a:p>
            <a:r>
              <a:t>Q&amp;A: The slide's comparison is validation-only (254 duplicate-aware units). The plotted frontier is NOT a held-out Pareto result. On held-out F007, nested width-0.5/K8 has macro-F1 0.846, versus original TinyViT K16 0.880. See experiments/F005/README.md and experiments/F007/FINAL_RESULTS.md.</a:t>
            </a:r>
          </a:p>
        </p:txBody>
      </p:sp>
      <p:sp>
        <p:nvSpPr>
          <p:cNvPr id="267" name="Google Shape;267;h32d4380da2189d87_7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1d64fdef22e34805_3_1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h1d64fdef22e34805_3_1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CHARALAMPOS · ~0:50</a:t>
            </a:r>
            <a:endParaRPr/>
          </a:p>
          <a:p>
            <a:pPr indent="-298450" lvl="0" marL="457200" rtl="0" algn="l">
              <a:lnSpc>
                <a:spcPct val="100000"/>
              </a:lnSpc>
              <a:spcBef>
                <a:spcPts val="0"/>
              </a:spcBef>
              <a:spcAft>
                <a:spcPts val="0"/>
              </a:spcAft>
              <a:buSzPts val="1100"/>
              <a:buChar char="●"/>
            </a:pPr>
            <a:r>
              <a:rPr lang="en-US" sz="1100"/>
              <a:t>Our controller receives only an external simulated resource budget b. It first keeps configurations meeting validation-screened accuracy, macro-F1 and abnormal-recall requirements. It then removes options exceeding the exact FLOP cap, and chooses the remaining option with highest validation abnormal recall, breaking ties in favor of cheaper computation. At zero capacity it defers. This frozen recall-priority rule selects K2 at 25%, full-width K8 at 50%, K12 at 75% and K16 at 100%. This policy was accepted before opening the held-out test.</a:t>
            </a:r>
            <a:endParaRPr/>
          </a:p>
          <a:p>
            <a:pPr indent="-298450" lvl="0" marL="457200" rtl="0" algn="l">
              <a:lnSpc>
                <a:spcPct val="100000"/>
              </a:lnSpc>
              <a:spcBef>
                <a:spcPts val="0"/>
              </a:spcBef>
              <a:spcAft>
                <a:spcPts val="0"/>
              </a:spcAft>
              <a:buSzPts val="1100"/>
              <a:buChar char="●"/>
            </a:pPr>
            <a:r>
              <a:rPr lang="en-US" sz="1100"/>
              <a:t>HANDOFF: Did those frozen choices retain useful quality?</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Q&amp;A / SCIENTIFIC CAVEATS (not spoken):</a:t>
            </a:r>
            <a:endParaRPr/>
          </a:p>
          <a:p>
            <a:pPr indent="-298450" lvl="0" marL="457200" rtl="0" algn="l">
              <a:lnSpc>
                <a:spcPct val="100000"/>
              </a:lnSpc>
              <a:spcBef>
                <a:spcPts val="0"/>
              </a:spcBef>
              <a:spcAft>
                <a:spcPts val="0"/>
              </a:spcAft>
              <a:buSzPts val="1100"/>
              <a:buChar char="●"/>
            </a:pPr>
            <a:r>
              <a:rPr lang="en-US" sz="1100"/>
              <a:t>b in [0,1]; capacity = b × 1.1 × 20.596 G modeled FLOPs. Headroom is simulated, not inferred from CPU availability. No input-dependent difficulty estimator. Rule tuned on validation only and not changed after final test.</a:t>
            </a:r>
            <a:endParaRPr/>
          </a:p>
        </p:txBody>
      </p:sp>
      <p:sp>
        <p:nvSpPr>
          <p:cNvPr id="283" name="Google Shape;283;h1d64fdef22e34805_3_1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h1d64fdef22e34805_3_1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h1d64fdef22e34805_3_1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CHARALAMPOS · ~1:05</a:t>
            </a:r>
            <a:endParaRPr/>
          </a:p>
          <a:p>
            <a:pPr indent="-298450" lvl="0" marL="457200" rtl="0" algn="l">
              <a:lnSpc>
                <a:spcPct val="100000"/>
              </a:lnSpc>
              <a:spcBef>
                <a:spcPts val="0"/>
              </a:spcBef>
              <a:spcAft>
                <a:spcPts val="0"/>
              </a:spcAft>
              <a:buSzPts val="1100"/>
              <a:buChar char="●"/>
            </a:pPr>
            <a:r>
              <a:rPr lang="en-US" sz="1100"/>
              <a:t>These are now the held-out results, not the validation plots. Original TinyViT K16 is our architectural baseline: 20.6 GFLOPs and macro-F1 0.880. The same nested checkpoint can select configurations across budgets: at a quarter budget, just 1.82 GFLOPs with F1 0.844; at full budget, F1 0.879 at the original 20.6 GFLOPs. This demonstrates meaningful model-work flexibility while preserving useful—but not identical—predictive quality. MobileNetV2 is still visible as an external reference and remains competitive, especially at lower computation. We do not claim statistical equivalence or universal superiority.</a:t>
            </a:r>
            <a:endParaRPr/>
          </a:p>
          <a:p>
            <a:pPr indent="-298450" lvl="0" marL="457200" rtl="0" algn="l">
              <a:lnSpc>
                <a:spcPct val="100000"/>
              </a:lnSpc>
              <a:spcBef>
                <a:spcPts val="0"/>
              </a:spcBef>
              <a:spcAft>
                <a:spcPts val="0"/>
              </a:spcAft>
              <a:buSzPts val="1100"/>
              <a:buChar char="●"/>
            </a:pPr>
            <a:r>
              <a:rPr lang="en-US" sz="1100"/>
              <a:t>HANDOFF: Quality is one piece; what happens when the budget changes across requests?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Q&amp;A / SCIENTIFIC CAVEATS (not spoken):</a:t>
            </a:r>
            <a:endParaRPr/>
          </a:p>
          <a:p>
            <a:pPr indent="-298450" lvl="0" marL="457200" rtl="0" algn="l">
              <a:lnSpc>
                <a:spcPct val="100000"/>
              </a:lnSpc>
              <a:spcBef>
                <a:spcPts val="0"/>
              </a:spcBef>
              <a:spcAft>
                <a:spcPts val="0"/>
              </a:spcAft>
              <a:buSzPts val="1100"/>
              <a:buChar char="●"/>
            </a:pPr>
            <a:r>
              <a:rPr lang="en-US" sz="1100"/>
              <a:t>Original B vs nested F at b=1: paired macro-F1 difference F−B −0.0017 [−0.0221,+0.0150] (95% unadjusted bootstrap CI); not an equivalence test. At b=.25, F has ~91.2% fewer full FLOPs than original B's fixed configuration but lower F1. All plotted factorial served points were evaluated on the same 265 units. MobileNet A: 5.108G, F1 0.875. E at b=.5/.75: 8.782G, F1 0.871. The plot connects F's budget progression, NOT an asserted Pareto frontier.</a:t>
            </a:r>
            <a:endParaRPr/>
          </a:p>
        </p:txBody>
      </p:sp>
      <p:sp>
        <p:nvSpPr>
          <p:cNvPr id="323" name="Google Shape;323;h1d64fdef22e34805_3_16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h1d64fdef22e34805_3_1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h1d64fdef22e34805_3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CHARALAMPOS · ~1:05</a:t>
            </a:r>
            <a:endParaRPr/>
          </a:p>
          <a:p>
            <a:pPr indent="-298450" lvl="0" marL="457200" rtl="0" algn="l">
              <a:lnSpc>
                <a:spcPct val="100000"/>
              </a:lnSpc>
              <a:spcBef>
                <a:spcPts val="0"/>
              </a:spcBef>
              <a:spcAft>
                <a:spcPts val="0"/>
              </a:spcAft>
              <a:buSzPts val="1100"/>
              <a:buChar char="●"/>
            </a:pPr>
            <a:r>
              <a:rPr lang="en-US" sz="1100"/>
              <a:t>Now each of the 265 held-out units receives one of five simulated budget levels; 53 units per level. The original K16 TinyViT only fits the maximum state, so it covers 20% of requests. Our adaptive F serves every positive state and reaches 80% coverage, with 0% resource always deferred. This is the clearest system-level value of adaptation. But a key control is that MobileNetV2 also covers 80% with less computation than F: adaptation is not universally more efficient. Policies E and F also both cover 80%. On this test split, E had higher abnormal recall at lower average FLOPs. The frozen recall-priority policy F was therefore not automatically the best operating rule.</a:t>
            </a:r>
            <a:endParaRPr/>
          </a:p>
          <a:p>
            <a:pPr indent="-298450" lvl="0" marL="457200" rtl="0" algn="l">
              <a:lnSpc>
                <a:spcPct val="100000"/>
              </a:lnSpc>
              <a:spcBef>
                <a:spcPts val="0"/>
              </a:spcBef>
              <a:spcAft>
                <a:spcPts val="0"/>
              </a:spcAft>
              <a:buSzPts val="1100"/>
              <a:buChar char="●"/>
            </a:pPr>
            <a:r>
              <a:rPr lang="en-US" sz="1100"/>
              <a:t>HANDOFF: We also measured actual CPU latency separately from FLOPs.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Q&amp;A / SCIENTIFIC CAVEATS (not spoken):</a:t>
            </a:r>
            <a:endParaRPr/>
          </a:p>
          <a:p>
            <a:pPr indent="-298450" lvl="0" marL="457200" rtl="0" algn="l">
              <a:lnSpc>
                <a:spcPct val="100000"/>
              </a:lnSpc>
              <a:spcBef>
                <a:spcPts val="0"/>
              </a:spcBef>
              <a:spcAft>
                <a:spcPts val="0"/>
              </a:spcAft>
              <a:buSzPts val="1100"/>
              <a:buChar char="●"/>
            </a:pPr>
            <a:r>
              <a:rPr lang="en-US" sz="1100"/>
              <a:t>Predictive metrics are on *completed* subsets, and B's 20% subset is not directly comparable with F's 80% subset. Correct paired F−B macro-F1 only uses the 53 units both serve: Δ−0.0276 [−0.086,0.000]; coverage diff +60pp. F−E mixed macro-F1 −0.0069 [−0.0258,0.0000], same 212 served. F never exceeds E abnormal recall at the four positive fixed states: identical at .25 and 1; less at .50/.75 with more GFLOPs. At .75, F has slightly higher macro-F1 than E. All intervals 95% unadjusted; 32 known dependency groups, 5000 bootstrap draws. No real live resource monitoring was tested.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h1d64fdef22e34805_3_2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h1d64fdef22e34805_3_2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CHARALAMPOS · ~0:50</a:t>
            </a:r>
          </a:p>
          <a:p>
            <a:r>
              <a:t>We also benchmarked real CPU latency rather than inferring it from FLOPs. On one AMD laptop CPU with four threads, the median JPEG-preprocessing-plus-inference latency ranged from 38 milliseconds for the smallest selected nested point to 416 milliseconds for full nested K16; original TinyViT took 419 milliseconds. This supports substantial runtime flexibility on this particular machine.</a:t>
            </a:r>
          </a:p>
          <a:p>
            <a:r>
              <a:t>HANDOFF: To conclude, which findings did we establish?</a:t>
            </a:r>
          </a:p>
          <a:p/>
          <a:p>
            <a:r>
              <a:t>Q&amp;A / SCIENTIFIC CAVEATS (not spoken):</a:t>
            </a:r>
          </a:p>
          <a:p>
            <a:r>
              <a:t>Official validation CPU job 200 requests, 50 warmups, five repeats, four Torch CPU threads; same job for nine preselected points. Results on AMD Ryzen AI 9 HX 370, not medical hardware. The latency bars are *practical JPEG pipeline median* (source benchmark.json practical_jpeg_pipeline[*].chunk4.median_latency_ms), NOT model-only latency. F007 cache diagnostic 50.5625 trillion full independent-request modeled FLOPs vs 29.3747 trillion incremental after within-clip reuse; cached/direct logits max difference 0.0. Official held-out resource results charge fresh-cache independent-request full FLOPs.</a:t>
            </a:r>
          </a:p>
        </p:txBody>
      </p:sp>
      <p:sp>
        <p:nvSpPr>
          <p:cNvPr id="393" name="Google Shape;393;h1d64fdef22e34805_3_2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h1d64fdef22e34805_3_2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h1d64fdef22e34805_3_2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CHARALAMPOS · ~0:40</a:t>
            </a:r>
            <a:endParaRPr/>
          </a:p>
          <a:p>
            <a:pPr indent="-298450" lvl="0" marL="457200" rtl="0" algn="l">
              <a:lnSpc>
                <a:spcPct val="100000"/>
              </a:lnSpc>
              <a:spcBef>
                <a:spcPts val="0"/>
              </a:spcBef>
              <a:spcAft>
                <a:spcPts val="0"/>
              </a:spcAft>
              <a:buSzPts val="1100"/>
              <a:buChar char="●"/>
            </a:pPr>
            <a:r>
              <a:rPr lang="en-US" sz="1100"/>
              <a:t>We built 24 shared-weight configurations and a deterministic resource-aware controller, then evaluated them on a held-out split. The adaptive family can operate over a wide compute range, and under our frozen mixed schedule it increased coverage from 20 percent for the original full-cost TinyViT to 80 percent. But MobileNetV2 also reached 80 percent with less computation, and our recall-priority policy did not beat a simpler alternative on held-out abnormal recall. So our contribution is demonstrated flexibility and transparent quality–coverage–compute trade-offs—not clinical superiority or ambulance readiness. Thank you.</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Q&amp;A / SCIENTIFIC CAVEATS (not spoken):</a:t>
            </a:r>
            <a:endParaRPr/>
          </a:p>
          <a:p>
            <a:pPr indent="-298450" lvl="0" marL="457200" rtl="0" algn="l">
              <a:lnSpc>
                <a:spcPct val="100000"/>
              </a:lnSpc>
              <a:spcBef>
                <a:spcPts val="0"/>
              </a:spcBef>
              <a:spcAft>
                <a:spcPts val="0"/>
              </a:spcAft>
              <a:buSzPts val="1100"/>
              <a:buChar char="●"/>
            </a:pPr>
            <a:r>
              <a:rPr lang="en-US" sz="1100"/>
              <a:t>We cannot claim deployed or clinical performance. One test split, one selected seed/checkpoint, 32 known dependency groups, possible unidentified biological patients, device/label confounding, simulated FLOP capacity and one laptop CPU. No battery, thermal, network or actual medical edge device study. The model family can succeed even when controller rule F is not the best held-out choice.</a:t>
            </a:r>
            <a:endParaRPr/>
          </a:p>
        </p:txBody>
      </p:sp>
      <p:sp>
        <p:nvSpPr>
          <p:cNvPr id="432" name="Google Shape;432;h1d64fdef22e34805_3_28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h6f5e88d0e0bd7b5a_0_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h6f5e88d0e0bd7b5a_0_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Questions &amp; Answers. Backup slides follow; use only if relevant.</a:t>
            </a:r>
          </a:p>
        </p:txBody>
      </p:sp>
      <p:sp>
        <p:nvSpPr>
          <p:cNvPr id="457" name="Google Shape;457;h6f5e88d0e0bd7b5a_0_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h1d64fdef22e34805_3_3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h1d64fdef22e34805_3_3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BACKUP / Q&amp;A</a:t>
            </a:r>
            <a:endParaRPr/>
          </a:p>
          <a:p>
            <a:pPr indent="-298450" lvl="0" marL="457200" rtl="0" algn="l">
              <a:lnSpc>
                <a:spcPct val="100000"/>
              </a:lnSpc>
              <a:spcBef>
                <a:spcPts val="0"/>
              </a:spcBef>
              <a:spcAft>
                <a:spcPts val="0"/>
              </a:spcAft>
              <a:buSzPts val="1100"/>
              <a:buChar char="●"/>
            </a:pPr>
            <a:r>
              <a:rPr lang="en-US" sz="1100"/>
              <a:t>Q: Didn't the recall-priority controller fail?</a:t>
            </a:r>
            <a:endParaRPr/>
          </a:p>
          <a:p>
            <a:pPr indent="-298450" lvl="0" marL="457200" rtl="0" algn="l">
              <a:lnSpc>
                <a:spcPct val="100000"/>
              </a:lnSpc>
              <a:spcBef>
                <a:spcPts val="0"/>
              </a:spcBef>
              <a:spcAft>
                <a:spcPts val="0"/>
              </a:spcAft>
              <a:buSzPts val="1100"/>
              <a:buChar char="●"/>
            </a:pPr>
            <a:r>
              <a:rPr lang="en-US" sz="1100"/>
              <a:t>A: It executed exactly as designed from validation-derived measurements, but its ranking did not generalize optimally. E never had lower held-out abnormal recall while F spent equal or more FLOPs, although F's macro-F1 at b=.75 was slightly higher. The distinction is architecture adaptivity versus policy quality. This is an honest negative result, not evidence of a broken controller. We did not use held-out results to retune it.</a:t>
            </a:r>
            <a:endParaRPr/>
          </a:p>
          <a:p>
            <a:pPr indent="-298450" lvl="0" marL="457200" rtl="0" algn="l">
              <a:lnSpc>
                <a:spcPct val="100000"/>
              </a:lnSpc>
              <a:spcBef>
                <a:spcPts val="0"/>
              </a:spcBef>
              <a:spcAft>
                <a:spcPts val="0"/>
              </a:spcAft>
              <a:buSzPts val="1100"/>
              <a:buChar char="●"/>
            </a:pPr>
            <a:r>
              <a:rPr lang="en-US" sz="1100"/>
              <a:t>Q: Why choose abnormal recall?</a:t>
            </a:r>
            <a:endParaRPr/>
          </a:p>
          <a:p>
            <a:pPr indent="-298450" lvl="0" marL="457200" rtl="0" algn="l">
              <a:lnSpc>
                <a:spcPct val="100000"/>
              </a:lnSpc>
              <a:spcBef>
                <a:spcPts val="0"/>
              </a:spcBef>
              <a:spcAft>
                <a:spcPts val="0"/>
              </a:spcAft>
              <a:buSzPts val="1100"/>
              <a:buChar char="●"/>
            </a:pPr>
            <a:r>
              <a:rPr lang="en-US" sz="1100"/>
              <a:t>A: Missing abnormal scans was considered more consequential for the proxy setting, but these screening thresholds are research heuristics, NOT clinically validated decision thresholds.</a:t>
            </a:r>
            <a:endParaRPr/>
          </a:p>
        </p:txBody>
      </p:sp>
      <p:sp>
        <p:nvSpPr>
          <p:cNvPr id="465" name="Google Shape;465;h1d64fdef22e34805_3_3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h1d64fdef22e34805_3_3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h1d64fdef22e34805_3_3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BACKUP / Q&amp;A</a:t>
            </a:r>
            <a:endParaRPr/>
          </a:p>
          <a:p>
            <a:pPr indent="-298450" lvl="0" marL="457200" rtl="0" algn="l">
              <a:lnSpc>
                <a:spcPct val="100000"/>
              </a:lnSpc>
              <a:spcBef>
                <a:spcPts val="0"/>
              </a:spcBef>
              <a:spcAft>
                <a:spcPts val="0"/>
              </a:spcAft>
              <a:buSzPts val="1100"/>
              <a:buChar char="●"/>
            </a:pPr>
            <a:r>
              <a:rPr lang="en-US" sz="1100"/>
              <a:t>The held-out inference ran once after independent protocol review, D030 acceptance, receipt, and clean identity preflight. We did not choose thresholds or operating points using test predictions. 265 test alias rows correspond to 265 recording evaluation units; 32 known dependency groups support cluster-bootstrap, but not biological-patient independence. For b=0, all systems defer; b=.25/.5/.75/1 each has 53 held-out units in the heterogeneous schedule. F−B macro-F1 is paired on only 53 commonly served units. Descriptive F1 across B's 20% and F's 80% completion sets is not a fair matched ranking.</a:t>
            </a:r>
            <a:endParaRPr/>
          </a:p>
        </p:txBody>
      </p:sp>
      <p:sp>
        <p:nvSpPr>
          <p:cNvPr id="491" name="Google Shape;491;h1d64fdef22e34805_3_3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h6aa883df74ce2343_1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h6aa883df74ce2343_1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IF ASKED: "Why 16 frames?"</a:t>
            </a:r>
            <a:endParaRPr/>
          </a:p>
          <a:p>
            <a:pPr indent="-298450" lvl="0" marL="457200" rtl="0" algn="l">
              <a:lnSpc>
                <a:spcPct val="100000"/>
              </a:lnSpc>
              <a:spcBef>
                <a:spcPts val="0"/>
              </a:spcBef>
              <a:spcAft>
                <a:spcPts val="0"/>
              </a:spcAft>
              <a:buSzPts val="1100"/>
              <a:buChar char="●"/>
            </a:pPr>
            <a:r>
              <a:rPr lang="en-US" sz="1100"/>
              <a:t>We started with 16 frames as a fixed choice before training. Then we tested it. Using every frame didn't score better but cost about nine times the compute, and 8 frames were almost as good as 16. So 16 is enough, and fewer frames give us room to save compute.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IF ASKED: "Why spread out?"</a:t>
            </a:r>
            <a:endParaRPr/>
          </a:p>
          <a:p>
            <a:pPr indent="-298450" lvl="0" marL="457200" rtl="0" algn="l">
              <a:lnSpc>
                <a:spcPct val="100000"/>
              </a:lnSpc>
              <a:spcBef>
                <a:spcPts val="0"/>
              </a:spcBef>
              <a:spcAft>
                <a:spcPts val="0"/>
              </a:spcAft>
              <a:buSzPts val="1100"/>
              <a:buChar char="●"/>
            </a:pPr>
            <a:r>
              <a:rPr lang="en-US" sz="1100"/>
              <a:t>Spread frames cover more of the clip. With only 4 frames that measurably helped (p = 0.04). At 16 it no longer matters, so we kept spread frames everywhere because they're never worse.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Sources: experiments/F003/README.md (frame count, spread vs consecutive, coverage), experiments/F004/README.md (all frames). The repo does not record why 16 was chosen at the start (D024 only fixes K=16).</a:t>
            </a:r>
            <a:endParaRPr/>
          </a:p>
        </p:txBody>
      </p:sp>
      <p:sp>
        <p:nvSpPr>
          <p:cNvPr id="571" name="Google Shape;571;h6aa883df74ce2343_11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2" name="Google Shape;13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3" name="Google Shape;13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2"/>
          <p:cNvSpPr/>
          <p:nvPr>
            <p:ph idx="2" type="pic"/>
          </p:nvPr>
        </p:nvSpPr>
        <p:spPr>
          <a:xfrm>
            <a:off x="1792288" y="612775"/>
            <a:ext cx="5486400" cy="4114800"/>
          </a:xfrm>
          <a:prstGeom prst="rect">
            <a:avLst/>
          </a:prstGeom>
          <a:noFill/>
          <a:ln>
            <a:noFill/>
          </a:ln>
        </p:spPr>
      </p:sp>
      <p:sp>
        <p:nvSpPr>
          <p:cNvPr id="139" name="Google Shape;13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3"/>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4"/>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C2D"/>
        </a:solidFill>
      </p:bgPr>
    </p:bg>
    <p:spTree>
      <p:nvGrpSpPr>
        <p:cNvPr id="159" name="Shape 159"/>
        <p:cNvGrpSpPr/>
        <p:nvPr/>
      </p:nvGrpSpPr>
      <p:grpSpPr>
        <a:xfrm>
          <a:off x="0" y="0"/>
          <a:ext cx="0" cy="0"/>
          <a:chOff x="0" y="0"/>
          <a:chExt cx="0" cy="0"/>
        </a:xfrm>
      </p:grpSpPr>
      <p:sp>
        <p:nvSpPr>
          <p:cNvPr id="160" name="Google Shape;160;p25"/>
          <p:cNvSpPr/>
          <p:nvPr/>
        </p:nvSpPr>
        <p:spPr>
          <a:xfrm>
            <a:off x="0" y="0"/>
            <a:ext cx="137160"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25"/>
          <p:cNvSpPr txBox="1"/>
          <p:nvPr/>
        </p:nvSpPr>
        <p:spPr>
          <a:xfrm>
            <a:off x="603504" y="502920"/>
            <a:ext cx="9875520" cy="32004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73D9C4"/>
                </a:solidFill>
                <a:latin typeface="Arial"/>
                <a:ea typeface="Arial"/>
                <a:cs typeface="Arial"/>
                <a:sym typeface="Arial"/>
              </a:rPr>
              <a:t>BIG DATA AT THE EDGE  •  PROJECT PRESENTATION</a:t>
            </a:r>
            <a:endParaRPr b="0" i="0" sz="1400" u="none" cap="none" strike="noStrike">
              <a:solidFill>
                <a:srgbClr val="000000"/>
              </a:solidFill>
              <a:latin typeface="Arial"/>
              <a:ea typeface="Arial"/>
              <a:cs typeface="Arial"/>
              <a:sym typeface="Arial"/>
            </a:endParaRPr>
          </a:p>
        </p:txBody>
      </p:sp>
      <p:sp>
        <p:nvSpPr>
          <p:cNvPr id="162" name="Google Shape;162;p25"/>
          <p:cNvSpPr txBox="1"/>
          <p:nvPr/>
        </p:nvSpPr>
        <p:spPr>
          <a:xfrm>
            <a:off x="612648" y="1243584"/>
            <a:ext cx="10607040" cy="118872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FFFFFF"/>
                </a:solidFill>
                <a:latin typeface="Arial"/>
                <a:ea typeface="Arial"/>
                <a:cs typeface="Arial"/>
                <a:sym typeface="Arial"/>
              </a:rPr>
              <a:t>Adaptive inference for</a:t>
            </a:r>
            <a:br>
              <a:rPr b="1" i="0" lang="en-US" sz="3500" u="none" cap="none" strike="noStrike">
                <a:solidFill>
                  <a:srgbClr val="FFFFFF"/>
                </a:solidFill>
                <a:latin typeface="Arial"/>
                <a:ea typeface="Arial"/>
                <a:cs typeface="Arial"/>
                <a:sym typeface="Arial"/>
              </a:rPr>
            </a:br>
            <a:r>
              <a:rPr b="1" i="0" lang="en-US" sz="3500" u="none" cap="none" strike="noStrike">
                <a:solidFill>
                  <a:srgbClr val="FFFFFF"/>
                </a:solidFill>
                <a:latin typeface="Arial"/>
                <a:ea typeface="Arial"/>
                <a:cs typeface="Arial"/>
                <a:sym typeface="Arial"/>
              </a:rPr>
              <a:t>lung ultrasound at the edge</a:t>
            </a:r>
            <a:endParaRPr b="0" i="0" sz="1400" u="none" cap="none" strike="noStrike">
              <a:solidFill>
                <a:srgbClr val="000000"/>
              </a:solidFill>
              <a:latin typeface="Arial"/>
              <a:ea typeface="Arial"/>
              <a:cs typeface="Arial"/>
              <a:sym typeface="Arial"/>
            </a:endParaRPr>
          </a:p>
        </p:txBody>
      </p:sp>
      <p:sp>
        <p:nvSpPr>
          <p:cNvPr id="163" name="Google Shape;163;p25"/>
          <p:cNvSpPr txBox="1"/>
          <p:nvPr/>
        </p:nvSpPr>
        <p:spPr>
          <a:xfrm>
            <a:off x="658368" y="3448780"/>
            <a:ext cx="10287000" cy="664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FFFFFF"/>
                </a:solidFill>
                <a:latin typeface="Arial"/>
                <a:ea typeface="Arial"/>
                <a:cs typeface="Arial"/>
                <a:sym typeface="Arial"/>
              </a:rPr>
              <a:t>Question: can one model adjust computation to a changing resource budget without giving up useful predictive quality?</a:t>
            </a:r>
            <a:endParaRPr b="0" i="0" sz="1400" u="none" cap="none" strike="noStrike">
              <a:solidFill>
                <a:srgbClr val="000000"/>
              </a:solidFill>
              <a:latin typeface="Arial"/>
              <a:ea typeface="Arial"/>
              <a:cs typeface="Arial"/>
              <a:sym typeface="Arial"/>
            </a:endParaRPr>
          </a:p>
        </p:txBody>
      </p:sp>
      <p:sp>
        <p:nvSpPr>
          <p:cNvPr id="164" name="Google Shape;164;p25"/>
          <p:cNvSpPr/>
          <p:nvPr/>
        </p:nvSpPr>
        <p:spPr>
          <a:xfrm>
            <a:off x="667512" y="4645152"/>
            <a:ext cx="10789920" cy="1014984"/>
          </a:xfrm>
          <a:prstGeom prst="roundRect">
            <a:avLst>
              <a:gd fmla="val 13000" name="adj"/>
            </a:avLst>
          </a:prstGeom>
          <a:solidFill>
            <a:srgbClr val="142B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25"/>
          <p:cNvSpPr txBox="1"/>
          <p:nvPr/>
        </p:nvSpPr>
        <p:spPr>
          <a:xfrm>
            <a:off x="932688" y="4919472"/>
            <a:ext cx="333756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73D9C4"/>
                </a:solidFill>
                <a:latin typeface="Arial"/>
                <a:ea typeface="Arial"/>
                <a:cs typeface="Arial"/>
                <a:sym typeface="Arial"/>
              </a:rPr>
              <a:t>VARIABLE BUDGET</a:t>
            </a:r>
            <a:endParaRPr b="0" i="0" sz="1400" u="none" cap="none" strike="noStrike">
              <a:solidFill>
                <a:srgbClr val="000000"/>
              </a:solidFill>
              <a:latin typeface="Arial"/>
              <a:ea typeface="Arial"/>
              <a:cs typeface="Arial"/>
              <a:sym typeface="Arial"/>
            </a:endParaRPr>
          </a:p>
        </p:txBody>
      </p:sp>
      <p:sp>
        <p:nvSpPr>
          <p:cNvPr id="166" name="Google Shape;166;p25"/>
          <p:cNvSpPr txBox="1"/>
          <p:nvPr/>
        </p:nvSpPr>
        <p:spPr>
          <a:xfrm>
            <a:off x="4370832" y="4919472"/>
            <a:ext cx="3456432"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Arial"/>
                <a:ea typeface="Arial"/>
                <a:cs typeface="Arial"/>
                <a:sym typeface="Arial"/>
              </a:rPr>
              <a:t>SHARED-WEIGHT MODES</a:t>
            </a:r>
            <a:endParaRPr b="0" i="0" sz="1400" u="none" cap="none" strike="noStrike">
              <a:solidFill>
                <a:srgbClr val="000000"/>
              </a:solidFill>
              <a:latin typeface="Arial"/>
              <a:ea typeface="Arial"/>
              <a:cs typeface="Arial"/>
              <a:sym typeface="Arial"/>
            </a:endParaRPr>
          </a:p>
        </p:txBody>
      </p:sp>
      <p:sp>
        <p:nvSpPr>
          <p:cNvPr id="167" name="Google Shape;167;p25"/>
          <p:cNvSpPr txBox="1"/>
          <p:nvPr/>
        </p:nvSpPr>
        <p:spPr>
          <a:xfrm>
            <a:off x="7955279" y="4919472"/>
            <a:ext cx="306324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F7BD5D"/>
                </a:solidFill>
                <a:latin typeface="Arial"/>
                <a:ea typeface="Arial"/>
                <a:cs typeface="Arial"/>
                <a:sym typeface="Arial"/>
              </a:rPr>
              <a:t>MEASURED TRADE-OFF</a:t>
            </a:r>
            <a:endParaRPr b="0" i="0" sz="1400" u="none" cap="none" strike="noStrike">
              <a:solidFill>
                <a:srgbClr val="000000"/>
              </a:solidFill>
              <a:latin typeface="Arial"/>
              <a:ea typeface="Arial"/>
              <a:cs typeface="Arial"/>
              <a:sym typeface="Arial"/>
            </a:endParaRPr>
          </a:p>
        </p:txBody>
      </p:sp>
      <p:sp>
        <p:nvSpPr>
          <p:cNvPr id="168" name="Google Shape;168;p25"/>
          <p:cNvSpPr txBox="1"/>
          <p:nvPr/>
        </p:nvSpPr>
        <p:spPr>
          <a:xfrm>
            <a:off x="4142232" y="4928616"/>
            <a:ext cx="310896" cy="31089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69" name="Google Shape;169;p25"/>
          <p:cNvSpPr txBox="1"/>
          <p:nvPr/>
        </p:nvSpPr>
        <p:spPr>
          <a:xfrm>
            <a:off x="7799831" y="4928616"/>
            <a:ext cx="310896" cy="31089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0" name="Google Shape;170;p25"/>
          <p:cNvSpPr txBox="1"/>
          <p:nvPr/>
        </p:nvSpPr>
        <p:spPr>
          <a:xfrm>
            <a:off x="658368" y="2401655"/>
            <a:ext cx="10287000" cy="341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lang="en-US" sz="2100">
                <a:solidFill>
                  <a:srgbClr val="FFFFFF"/>
                </a:solidFill>
              </a:rPr>
              <a:t>Group 7 | Charalampos Giannakis &amp; Salomé Poulain</a:t>
            </a:r>
            <a:endParaRPr sz="21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75" name="Shape 175"/>
        <p:cNvGrpSpPr/>
        <p:nvPr/>
      </p:nvGrpSpPr>
      <p:grpSpPr>
        <a:xfrm>
          <a:off x="0" y="0"/>
          <a:ext cx="0" cy="0"/>
          <a:chOff x="0" y="0"/>
          <a:chExt cx="0" cy="0"/>
        </a:xfrm>
      </p:grpSpPr>
      <p:sp>
        <p:nvSpPr>
          <p:cNvPr id="176" name="Google Shape;176;p26"/>
          <p:cNvSpPr/>
          <p:nvPr/>
        </p:nvSpPr>
        <p:spPr>
          <a:xfrm>
            <a:off x="0" y="0"/>
            <a:ext cx="118872"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26"/>
          <p:cNvSpPr txBox="1"/>
          <p:nvPr/>
        </p:nvSpPr>
        <p:spPr>
          <a:xfrm>
            <a:off x="502920" y="228600"/>
            <a:ext cx="10881360" cy="2194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178" name="Google Shape;178;p26"/>
          <p:cNvSpPr txBox="1"/>
          <p:nvPr/>
        </p:nvSpPr>
        <p:spPr>
          <a:xfrm>
            <a:off x="502920" y="612648"/>
            <a:ext cx="10972800" cy="464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900"/>
              <a:buFont typeface="Arial"/>
              <a:buNone/>
            </a:pPr>
            <a:r>
              <a:rPr b="1" lang="en-US" sz="2900">
                <a:solidFill>
                  <a:srgbClr val="112539"/>
                </a:solidFill>
              </a:rPr>
              <a:t>Problem Scenario</a:t>
            </a:r>
            <a:endParaRPr b="0" i="0" sz="1400" u="none" cap="none" strike="noStrike">
              <a:solidFill>
                <a:srgbClr val="000000"/>
              </a:solidFill>
              <a:latin typeface="Arial"/>
              <a:ea typeface="Arial"/>
              <a:cs typeface="Arial"/>
              <a:sym typeface="Arial"/>
            </a:endParaRPr>
          </a:p>
        </p:txBody>
      </p:sp>
      <p:sp>
        <p:nvSpPr>
          <p:cNvPr id="179" name="Google Shape;179;p26"/>
          <p:cNvSpPr/>
          <p:nvPr/>
        </p:nvSpPr>
        <p:spPr>
          <a:xfrm>
            <a:off x="502920" y="6473952"/>
            <a:ext cx="11201400" cy="15544"/>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26"/>
          <p:cNvSpPr txBox="1"/>
          <p:nvPr/>
        </p:nvSpPr>
        <p:spPr>
          <a:xfrm>
            <a:off x="11064240" y="6510528"/>
            <a:ext cx="612648" cy="1645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900" u="none" cap="none" strike="noStrike">
                <a:solidFill>
                  <a:srgbClr val="5F6D7B"/>
                </a:solidFill>
                <a:latin typeface="Arial"/>
                <a:ea typeface="Arial"/>
                <a:cs typeface="Arial"/>
                <a:sym typeface="Arial"/>
              </a:rPr>
              <a:t>01 / 11</a:t>
            </a:r>
            <a:endParaRPr/>
          </a:p>
        </p:txBody>
      </p:sp>
      <p:sp>
        <p:nvSpPr>
          <p:cNvPr id="181" name="Google Shape;181;p26"/>
          <p:cNvSpPr/>
          <p:nvPr/>
        </p:nvSpPr>
        <p:spPr>
          <a:xfrm>
            <a:off x="502920" y="1280160"/>
            <a:ext cx="4220377" cy="1625589"/>
          </a:xfrm>
          <a:prstGeom prst="roundRect">
            <a:avLst>
              <a:gd fmla="val 12375"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182" name="Google Shape;182;p26"/>
          <p:cNvPicPr preferRelativeResize="0"/>
          <p:nvPr/>
        </p:nvPicPr>
        <p:blipFill rotWithShape="1">
          <a:blip r:embed="rId3">
            <a:alphaModFix/>
          </a:blip>
          <a:srcRect b="0" l="0" r="0" t="0"/>
          <a:stretch/>
        </p:blipFill>
        <p:spPr>
          <a:xfrm>
            <a:off x="594360" y="1371600"/>
            <a:ext cx="4037497" cy="1442709"/>
          </a:xfrm>
          <a:prstGeom prst="rect">
            <a:avLst/>
          </a:prstGeom>
          <a:noFill/>
          <a:ln>
            <a:noFill/>
          </a:ln>
        </p:spPr>
      </p:pic>
      <p:sp>
        <p:nvSpPr>
          <p:cNvPr id="183" name="Google Shape;183;p26"/>
          <p:cNvSpPr/>
          <p:nvPr/>
        </p:nvSpPr>
        <p:spPr>
          <a:xfrm>
            <a:off x="502920" y="3106917"/>
            <a:ext cx="4220377" cy="2507499"/>
          </a:xfrm>
          <a:prstGeom prst="roundRect">
            <a:avLst>
              <a:gd fmla="val 8022"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184" name="Google Shape;184;p26"/>
          <p:cNvPicPr preferRelativeResize="0"/>
          <p:nvPr/>
        </p:nvPicPr>
        <p:blipFill rotWithShape="1">
          <a:blip r:embed="rId4">
            <a:alphaModFix/>
          </a:blip>
          <a:srcRect b="0" l="0" r="0" t="0"/>
          <a:stretch/>
        </p:blipFill>
        <p:spPr>
          <a:xfrm>
            <a:off x="594360" y="3198357"/>
            <a:ext cx="4037497" cy="2324619"/>
          </a:xfrm>
          <a:prstGeom prst="rect">
            <a:avLst/>
          </a:prstGeom>
          <a:noFill/>
          <a:ln>
            <a:noFill/>
          </a:ln>
        </p:spPr>
      </p:pic>
      <p:sp>
        <p:nvSpPr>
          <p:cNvPr id="185" name="Google Shape;185;p26"/>
          <p:cNvSpPr/>
          <p:nvPr/>
        </p:nvSpPr>
        <p:spPr>
          <a:xfrm>
            <a:off x="4924465" y="1280160"/>
            <a:ext cx="6764311" cy="1611376"/>
          </a:xfrm>
          <a:prstGeom prst="roundRect">
            <a:avLst>
              <a:gd fmla="val 12484"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26"/>
          <p:cNvSpPr txBox="1"/>
          <p:nvPr/>
        </p:nvSpPr>
        <p:spPr>
          <a:xfrm>
            <a:off x="5125633" y="1444752"/>
            <a:ext cx="6361975" cy="13004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50"/>
              <a:buFont typeface="Arial"/>
              <a:buNone/>
            </a:pPr>
            <a:r>
              <a:rPr b="0" i="0" lang="en-US" sz="1550" u="none" cap="none" strike="noStrike">
                <a:solidFill>
                  <a:srgbClr val="112539"/>
                </a:solidFill>
                <a:latin typeface="Arial"/>
                <a:ea typeface="Arial"/>
                <a:cs typeface="Arial"/>
                <a:sym typeface="Arial"/>
              </a:rPr>
              <a:t>Tablet flags abnormal lung zones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50"/>
              <a:buFont typeface="Arial"/>
              <a:buNone/>
            </a:pPr>
            <a:r>
              <a:rPr b="0" i="0" lang="en-US" sz="1550" u="none" cap="none" strike="noStrike">
                <a:solidFill>
                  <a:srgbClr val="112539"/>
                </a:solidFill>
                <a:latin typeface="Arial"/>
                <a:ea typeface="Arial"/>
                <a:cs typeface="Arial"/>
                <a:sym typeface="Arial"/>
              </a:rPr>
              <a:t>Spare compute changes with heat, the ultrasound app, battery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550"/>
              <a:buFont typeface="Arial"/>
              <a:buNone/>
            </a:pPr>
            <a:r>
              <a:rPr b="1" i="0" lang="en-US" sz="1550" u="none" cap="none" strike="noStrike">
                <a:solidFill>
                  <a:srgbClr val="112539"/>
                </a:solidFill>
                <a:latin typeface="Arial"/>
                <a:ea typeface="Arial"/>
                <a:cs typeface="Arial"/>
                <a:sym typeface="Arial"/>
              </a:rPr>
              <a:t>Big fixed model:</a:t>
            </a:r>
            <a:r>
              <a:rPr b="0" i="0" lang="en-US" sz="1550" u="none" cap="none" strike="noStrike">
                <a:solidFill>
                  <a:srgbClr val="112539"/>
                </a:solidFill>
                <a:latin typeface="Arial"/>
                <a:ea typeface="Arial"/>
                <a:cs typeface="Arial"/>
                <a:sym typeface="Arial"/>
              </a:rPr>
              <a:t> only fits at 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50"/>
              <a:buFont typeface="Arial"/>
              <a:buNone/>
            </a:pPr>
            <a:r>
              <a:rPr b="1" i="0" lang="en-US" sz="1550" u="none" cap="none" strike="noStrike">
                <a:solidFill>
                  <a:srgbClr val="112539"/>
                </a:solidFill>
                <a:latin typeface="Arial"/>
                <a:ea typeface="Arial"/>
                <a:cs typeface="Arial"/>
                <a:sym typeface="Arial"/>
              </a:rPr>
              <a:t>Small fixed model:</a:t>
            </a:r>
            <a:r>
              <a:rPr b="0" i="0" lang="en-US" sz="1550" u="none" cap="none" strike="noStrike">
                <a:solidFill>
                  <a:srgbClr val="112539"/>
                </a:solidFill>
                <a:latin typeface="Arial"/>
                <a:ea typeface="Arial"/>
                <a:cs typeface="Arial"/>
                <a:sym typeface="Arial"/>
              </a:rPr>
              <a:t> never uses the extra</a:t>
            </a:r>
            <a:endParaRPr b="0" i="0" sz="1400" u="none" cap="none" strike="noStrike">
              <a:solidFill>
                <a:srgbClr val="000000"/>
              </a:solidFill>
              <a:latin typeface="Arial"/>
              <a:ea typeface="Arial"/>
              <a:cs typeface="Arial"/>
              <a:sym typeface="Arial"/>
            </a:endParaRPr>
          </a:p>
        </p:txBody>
      </p:sp>
      <p:sp>
        <p:nvSpPr>
          <p:cNvPr id="187" name="Google Shape;187;p26"/>
          <p:cNvSpPr/>
          <p:nvPr/>
        </p:nvSpPr>
        <p:spPr>
          <a:xfrm>
            <a:off x="5107345" y="1133856"/>
            <a:ext cx="991210" cy="292608"/>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26"/>
          <p:cNvSpPr txBox="1"/>
          <p:nvPr/>
        </p:nvSpPr>
        <p:spPr>
          <a:xfrm>
            <a:off x="5217073" y="1165860"/>
            <a:ext cx="808330"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SCENARIO</a:t>
            </a:r>
            <a:endParaRPr b="0" i="0" sz="1400" u="none" cap="none" strike="noStrike">
              <a:solidFill>
                <a:srgbClr val="000000"/>
              </a:solidFill>
              <a:latin typeface="Arial"/>
              <a:ea typeface="Arial"/>
              <a:cs typeface="Arial"/>
              <a:sym typeface="Arial"/>
            </a:endParaRPr>
          </a:p>
        </p:txBody>
      </p:sp>
      <p:sp>
        <p:nvSpPr>
          <p:cNvPr id="189" name="Google Shape;189;p26"/>
          <p:cNvSpPr/>
          <p:nvPr/>
        </p:nvSpPr>
        <p:spPr>
          <a:xfrm>
            <a:off x="4924465" y="3092704"/>
            <a:ext cx="6764311" cy="2521712"/>
          </a:xfrm>
          <a:prstGeom prst="roundRect">
            <a:avLst>
              <a:gd fmla="val 7977"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190" name="Google Shape;190;p26"/>
          <p:cNvPicPr preferRelativeResize="0"/>
          <p:nvPr/>
        </p:nvPicPr>
        <p:blipFill rotWithShape="1">
          <a:blip r:embed="rId5">
            <a:alphaModFix/>
          </a:blip>
          <a:srcRect b="0" l="0" r="0" t="0"/>
          <a:stretch/>
        </p:blipFill>
        <p:spPr>
          <a:xfrm>
            <a:off x="6210765" y="3184144"/>
            <a:ext cx="4191710" cy="2338832"/>
          </a:xfrm>
          <a:prstGeom prst="rect">
            <a:avLst/>
          </a:prstGeom>
          <a:noFill/>
          <a:ln>
            <a:noFill/>
          </a:ln>
        </p:spPr>
      </p:pic>
      <p:sp>
        <p:nvSpPr>
          <p:cNvPr id="191" name="Google Shape;191;p26"/>
          <p:cNvSpPr/>
          <p:nvPr/>
        </p:nvSpPr>
        <p:spPr>
          <a:xfrm>
            <a:off x="5107345" y="2946400"/>
            <a:ext cx="632765" cy="292608"/>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26"/>
          <p:cNvSpPr txBox="1"/>
          <p:nvPr/>
        </p:nvSpPr>
        <p:spPr>
          <a:xfrm>
            <a:off x="5217073" y="2978404"/>
            <a:ext cx="449885"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GOAL</a:t>
            </a:r>
            <a:endParaRPr b="0" i="0" sz="1400" u="none" cap="none" strike="noStrike">
              <a:solidFill>
                <a:srgbClr val="000000"/>
              </a:solidFill>
              <a:latin typeface="Arial"/>
              <a:ea typeface="Arial"/>
              <a:cs typeface="Arial"/>
              <a:sym typeface="Arial"/>
            </a:endParaRPr>
          </a:p>
        </p:txBody>
      </p:sp>
      <p:sp>
        <p:nvSpPr>
          <p:cNvPr id="193" name="Google Shape;193;p26"/>
          <p:cNvSpPr/>
          <p:nvPr/>
        </p:nvSpPr>
        <p:spPr>
          <a:xfrm>
            <a:off x="502920" y="5815584"/>
            <a:ext cx="11185855" cy="530352"/>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26"/>
          <p:cNvSpPr txBox="1"/>
          <p:nvPr/>
        </p:nvSpPr>
        <p:spPr>
          <a:xfrm>
            <a:off x="777240" y="5934456"/>
            <a:ext cx="10637100" cy="29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i="0" lang="en-US" sz="1700" u="none" cap="none" strike="noStrike">
                <a:solidFill>
                  <a:srgbClr val="10273E"/>
                </a:solidFill>
                <a:latin typeface="Arial"/>
                <a:ea typeface="Arial"/>
                <a:cs typeface="Arial"/>
                <a:sym typeface="Arial"/>
              </a:rPr>
              <a:t>Goal: </a:t>
            </a:r>
            <a:r>
              <a:rPr b="1" i="0" lang="en-US" sz="1700" u="none" cap="none" strike="noStrike">
                <a:solidFill>
                  <a:srgbClr val="10273E"/>
                </a:solidFill>
                <a:latin typeface="Arial"/>
                <a:ea typeface="Arial"/>
                <a:cs typeface="Arial"/>
                <a:sym typeface="Arial"/>
              </a:rPr>
              <a:t>choose a useful quality–cost mode within each budget.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199" name="Shape 199"/>
        <p:cNvGrpSpPr/>
        <p:nvPr/>
      </p:nvGrpSpPr>
      <p:grpSpPr>
        <a:xfrm>
          <a:off x="0" y="0"/>
          <a:ext cx="0" cy="0"/>
          <a:chOff x="0" y="0"/>
          <a:chExt cx="0" cy="0"/>
        </a:xfrm>
      </p:grpSpPr>
      <p:sp>
        <p:nvSpPr>
          <p:cNvPr id="200" name="Google Shape;200;p27"/>
          <p:cNvSpPr/>
          <p:nvPr/>
        </p:nvSpPr>
        <p:spPr>
          <a:xfrm>
            <a:off x="0" y="0"/>
            <a:ext cx="118872"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27"/>
          <p:cNvSpPr txBox="1"/>
          <p:nvPr/>
        </p:nvSpPr>
        <p:spPr>
          <a:xfrm>
            <a:off x="502920" y="228600"/>
            <a:ext cx="10881360" cy="2194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202" name="Google Shape;202;p27"/>
          <p:cNvSpPr txBox="1"/>
          <p:nvPr/>
        </p:nvSpPr>
        <p:spPr>
          <a:xfrm>
            <a:off x="502920" y="612648"/>
            <a:ext cx="10972800" cy="464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2539"/>
                </a:solidFill>
                <a:latin typeface="Arial"/>
                <a:ea typeface="Arial"/>
                <a:cs typeface="Arial"/>
                <a:sym typeface="Arial"/>
              </a:rPr>
              <a:t>Dataset and Task</a:t>
            </a:r>
            <a:endParaRPr b="0" i="0" sz="1400" u="none" cap="none" strike="noStrike">
              <a:solidFill>
                <a:srgbClr val="000000"/>
              </a:solidFill>
              <a:latin typeface="Arial"/>
              <a:ea typeface="Arial"/>
              <a:cs typeface="Arial"/>
              <a:sym typeface="Arial"/>
            </a:endParaRPr>
          </a:p>
        </p:txBody>
      </p:sp>
      <p:sp>
        <p:nvSpPr>
          <p:cNvPr id="203" name="Google Shape;203;p27"/>
          <p:cNvSpPr/>
          <p:nvPr/>
        </p:nvSpPr>
        <p:spPr>
          <a:xfrm>
            <a:off x="502920" y="6473952"/>
            <a:ext cx="11201400" cy="15544"/>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27"/>
          <p:cNvSpPr txBox="1"/>
          <p:nvPr/>
        </p:nvSpPr>
        <p:spPr>
          <a:xfrm>
            <a:off x="11064240" y="6510528"/>
            <a:ext cx="612648" cy="164592"/>
          </a:xfrm>
          <a:prstGeom prst="rect">
            <a:avLst/>
          </a:prstGeom>
          <a:noFill/>
          <a:ln>
            <a:noFill/>
          </a:ln>
        </p:spPr>
        <p:txBody>
          <a:bodyPr anchorCtr="0" anchor="t" bIns="9125" lIns="0" spcFirstLastPara="1" rIns="0" wrap="square" tIns="9125">
            <a:sp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606E7D"/>
                </a:solidFill>
                <a:latin typeface="Arial"/>
                <a:ea typeface="Arial"/>
                <a:cs typeface="Arial"/>
                <a:sym typeface="Arial"/>
              </a:rPr>
              <a:t>02 / 11</a:t>
            </a:r>
            <a:endParaRPr b="0" i="0" sz="1400" u="none" cap="none" strike="noStrike">
              <a:solidFill>
                <a:srgbClr val="000000"/>
              </a:solidFill>
              <a:latin typeface="Arial"/>
              <a:ea typeface="Arial"/>
              <a:cs typeface="Arial"/>
              <a:sym typeface="Arial"/>
            </a:endParaRPr>
          </a:p>
        </p:txBody>
      </p:sp>
      <p:sp>
        <p:nvSpPr>
          <p:cNvPr id="205" name="Google Shape;205;p27"/>
          <p:cNvSpPr/>
          <p:nvPr/>
        </p:nvSpPr>
        <p:spPr>
          <a:xfrm>
            <a:off x="502920" y="1280160"/>
            <a:ext cx="4146215" cy="4334256"/>
          </a:xfrm>
          <a:prstGeom prst="roundRect">
            <a:avLst>
              <a:gd fmla="val 4851"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206" name="Google Shape;206;p27"/>
          <p:cNvPicPr preferRelativeResize="0"/>
          <p:nvPr/>
        </p:nvPicPr>
        <p:blipFill rotWithShape="1">
          <a:blip r:embed="rId3">
            <a:alphaModFix/>
          </a:blip>
          <a:srcRect b="0" l="0" r="0" t="0"/>
          <a:stretch/>
        </p:blipFill>
        <p:spPr>
          <a:xfrm>
            <a:off x="594360" y="1371600"/>
            <a:ext cx="3963335" cy="4151376"/>
          </a:xfrm>
          <a:prstGeom prst="rect">
            <a:avLst/>
          </a:prstGeom>
          <a:noFill/>
          <a:ln>
            <a:noFill/>
          </a:ln>
        </p:spPr>
      </p:pic>
      <p:sp>
        <p:nvSpPr>
          <p:cNvPr id="207" name="Google Shape;207;p27"/>
          <p:cNvSpPr/>
          <p:nvPr/>
        </p:nvSpPr>
        <p:spPr>
          <a:xfrm>
            <a:off x="4850300" y="1280149"/>
            <a:ext cx="6838500" cy="4598700"/>
          </a:xfrm>
          <a:prstGeom prst="roundRect">
            <a:avLst>
              <a:gd fmla="val 4641"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27"/>
          <p:cNvSpPr txBox="1"/>
          <p:nvPr/>
        </p:nvSpPr>
        <p:spPr>
          <a:xfrm>
            <a:off x="5051475" y="1537975"/>
            <a:ext cx="6578100" cy="4905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1600"/>
              </a:spcBef>
              <a:spcAft>
                <a:spcPts val="0"/>
              </a:spcAft>
              <a:buClr>
                <a:srgbClr val="000000"/>
              </a:buClr>
              <a:buSzPts val="1650"/>
              <a:buFont typeface="Arial"/>
              <a:buNone/>
            </a:pPr>
            <a:r>
              <a:rPr b="1" i="0" lang="en-US" sz="1650" u="none" cap="none" strike="noStrike">
                <a:solidFill>
                  <a:srgbClr val="0E8D88"/>
                </a:solidFill>
                <a:latin typeface="Arial"/>
                <a:ea typeface="Arial"/>
                <a:cs typeface="Arial"/>
                <a:sym typeface="Arial"/>
              </a:rPr>
              <a:t>The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50"/>
              <a:buFont typeface="Arial"/>
              <a:buNone/>
            </a:pPr>
            <a:r>
              <a:rPr lang="en-US" sz="1650">
                <a:solidFill>
                  <a:srgbClr val="112539"/>
                </a:solidFill>
              </a:rPr>
              <a:t>Public Lung Data was rare. </a:t>
            </a:r>
            <a:endParaRPr b="1"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rPr b="1" i="0" lang="en-US" sz="1650" u="none" cap="none" strike="noStrike">
                <a:solidFill>
                  <a:srgbClr val="112539"/>
                </a:solidFill>
                <a:latin typeface="Arial"/>
                <a:ea typeface="Arial"/>
                <a:cs typeface="Arial"/>
                <a:sym typeface="Arial"/>
              </a:rPr>
              <a:t>OpenPOCUS</a:t>
            </a:r>
            <a:r>
              <a:rPr b="1" lang="en-US" sz="1650">
                <a:solidFill>
                  <a:srgbClr val="112539"/>
                </a:solidFill>
              </a:rPr>
              <a:t> </a:t>
            </a:r>
            <a:endParaRPr b="1"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rPr lang="en-US" sz="1650">
                <a:solidFill>
                  <a:srgbClr val="112539"/>
                </a:solidFill>
              </a:rPr>
              <a:t>Researchers at Stanford published it in 2026 for training NN</a:t>
            </a:r>
            <a:endParaRPr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rPr lang="en-US" sz="1650">
                <a:solidFill>
                  <a:srgbClr val="112539"/>
                </a:solidFill>
              </a:rPr>
              <a:t>~50% potential COVID-19, 50% control</a:t>
            </a:r>
            <a:endParaRPr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rPr lang="en-US" sz="1650">
                <a:solidFill>
                  <a:srgbClr val="112539"/>
                </a:solidFill>
              </a:rPr>
              <a:t>226 exams ~ 12 zones</a:t>
            </a:r>
            <a:endParaRPr sz="1650">
              <a:solidFill>
                <a:srgbClr val="112539"/>
              </a:solidFill>
            </a:endParaRPr>
          </a:p>
          <a:p>
            <a:pPr indent="0" lvl="0" marL="0" rtl="0" algn="l">
              <a:spcBef>
                <a:spcPts val="600"/>
              </a:spcBef>
              <a:spcAft>
                <a:spcPts val="0"/>
              </a:spcAft>
              <a:buClr>
                <a:schemeClr val="dk1"/>
              </a:buClr>
              <a:buSzPts val="1650"/>
              <a:buFont typeface="Arial"/>
              <a:buNone/>
            </a:pPr>
            <a:r>
              <a:rPr lang="en-US" sz="1650">
                <a:solidFill>
                  <a:srgbClr val="112539"/>
                </a:solidFill>
              </a:rPr>
              <a:t>1 video = 1 label: </a:t>
            </a:r>
            <a:r>
              <a:rPr i="1" lang="en-US" sz="1650" u="sng">
                <a:solidFill>
                  <a:srgbClr val="112539"/>
                </a:solidFill>
              </a:rPr>
              <a:t>normal</a:t>
            </a:r>
            <a:r>
              <a:rPr lang="en-US" sz="1650">
                <a:solidFill>
                  <a:srgbClr val="112539"/>
                </a:solidFill>
              </a:rPr>
              <a:t>,</a:t>
            </a:r>
            <a:r>
              <a:rPr i="1" lang="en-US" sz="1650">
                <a:solidFill>
                  <a:srgbClr val="112539"/>
                </a:solidFill>
              </a:rPr>
              <a:t> 3x </a:t>
            </a:r>
            <a:r>
              <a:rPr i="1" lang="en-US" sz="1650" u="sng">
                <a:solidFill>
                  <a:srgbClr val="112539"/>
                </a:solidFill>
              </a:rPr>
              <a:t>non-normal findings</a:t>
            </a:r>
            <a:r>
              <a:rPr lang="en-US" sz="1650">
                <a:solidFill>
                  <a:srgbClr val="112539"/>
                </a:solidFill>
              </a:rPr>
              <a:t> or </a:t>
            </a:r>
            <a:r>
              <a:rPr i="1" lang="en-US" sz="1650">
                <a:solidFill>
                  <a:srgbClr val="112539"/>
                </a:solidFill>
              </a:rPr>
              <a:t>can't agree</a:t>
            </a:r>
            <a:r>
              <a:rPr lang="en-US" sz="1650">
                <a:solidFill>
                  <a:srgbClr val="112539"/>
                </a:solidFill>
              </a:rPr>
              <a:t> </a:t>
            </a:r>
            <a:endParaRPr sz="1650">
              <a:solidFill>
                <a:srgbClr val="112539"/>
              </a:solidFill>
            </a:endParaRPr>
          </a:p>
          <a:p>
            <a:pPr indent="0" lvl="0" marL="0" rtl="0" algn="l">
              <a:spcBef>
                <a:spcPts val="600"/>
              </a:spcBef>
              <a:spcAft>
                <a:spcPts val="0"/>
              </a:spcAft>
              <a:buClr>
                <a:schemeClr val="dk1"/>
              </a:buClr>
              <a:buSzPts val="1650"/>
              <a:buFont typeface="Arial"/>
              <a:buNone/>
            </a:pPr>
            <a:r>
              <a:t/>
            </a:r>
            <a:endParaRPr sz="1650">
              <a:solidFill>
                <a:srgbClr val="112539"/>
              </a:solidFill>
            </a:endParaRPr>
          </a:p>
          <a:p>
            <a:pPr indent="0" lvl="0" marL="0" rtl="0" algn="l">
              <a:spcBef>
                <a:spcPts val="600"/>
              </a:spcBef>
              <a:spcAft>
                <a:spcPts val="0"/>
              </a:spcAft>
              <a:buClr>
                <a:schemeClr val="dk1"/>
              </a:buClr>
              <a:buSzPts val="1650"/>
              <a:buFont typeface="Arial"/>
              <a:buNone/>
            </a:pPr>
            <a:r>
              <a:rPr lang="en-US" sz="1650">
                <a:solidFill>
                  <a:srgbClr val="112539"/>
                </a:solidFill>
              </a:rPr>
              <a:t>binary: normal or abnormal</a:t>
            </a:r>
            <a:endParaRPr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rPr b="0" i="0" lang="en-US" sz="1650" u="none" cap="none" strike="noStrike">
                <a:solidFill>
                  <a:srgbClr val="112539"/>
                </a:solidFill>
                <a:latin typeface="Arial"/>
                <a:ea typeface="Arial"/>
                <a:cs typeface="Arial"/>
                <a:sym typeface="Arial"/>
              </a:rPr>
              <a:t>1,762 videos</a:t>
            </a:r>
            <a:endParaRPr b="0" i="0" sz="1650" u="none" cap="none" strike="noStrike">
              <a:solidFill>
                <a:srgbClr val="112539"/>
              </a:solidFill>
              <a:latin typeface="Arial"/>
              <a:ea typeface="Arial"/>
              <a:cs typeface="Arial"/>
              <a:sym typeface="Arial"/>
            </a:endParaRPr>
          </a:p>
          <a:p>
            <a:pPr indent="0" lvl="0" marL="0" rtl="0" algn="l">
              <a:spcBef>
                <a:spcPts val="600"/>
              </a:spcBef>
              <a:spcAft>
                <a:spcPts val="0"/>
              </a:spcAft>
              <a:buClr>
                <a:schemeClr val="dk1"/>
              </a:buClr>
              <a:buSzPts val="1650"/>
              <a:buFont typeface="Arial"/>
              <a:buNone/>
            </a:pPr>
            <a:r>
              <a:rPr lang="en-US" sz="1650">
                <a:solidFill>
                  <a:srgbClr val="112539"/>
                </a:solidFill>
              </a:rPr>
              <a:t>70% normal (macro-F1 needed)</a:t>
            </a:r>
            <a:endParaRPr sz="1650">
              <a:solidFill>
                <a:srgbClr val="112539"/>
              </a:solidFill>
            </a:endParaRPr>
          </a:p>
          <a:p>
            <a:pPr indent="0" lvl="0" marL="0" rtl="0" algn="l">
              <a:spcBef>
                <a:spcPts val="600"/>
              </a:spcBef>
              <a:spcAft>
                <a:spcPts val="0"/>
              </a:spcAft>
              <a:buClr>
                <a:schemeClr val="dk1"/>
              </a:buClr>
              <a:buSzPts val="1650"/>
              <a:buFont typeface="Arial"/>
              <a:buNone/>
            </a:pPr>
            <a:r>
              <a:rPr lang="en-US" sz="1650">
                <a:solidFill>
                  <a:srgbClr val="112539"/>
                </a:solidFill>
              </a:rPr>
              <a:t>stratified group split: 70/15/15</a:t>
            </a:r>
            <a:endParaRPr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rPr lang="en-US" sz="1650">
                <a:solidFill>
                  <a:srgbClr val="112539"/>
                </a:solidFill>
              </a:rPr>
              <a:t>Max 16 spread out frames</a:t>
            </a:r>
            <a:endParaRPr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t/>
            </a:r>
            <a:endParaRPr sz="1650">
              <a:solidFill>
                <a:srgbClr val="112539"/>
              </a:solidFill>
            </a:endParaRPr>
          </a:p>
          <a:p>
            <a:pPr indent="0" lvl="0" marL="0" marR="0" rtl="0" algn="l">
              <a:lnSpc>
                <a:spcPct val="100000"/>
              </a:lnSpc>
              <a:spcBef>
                <a:spcPts val="600"/>
              </a:spcBef>
              <a:spcAft>
                <a:spcPts val="0"/>
              </a:spcAft>
              <a:buClr>
                <a:srgbClr val="000000"/>
              </a:buClr>
              <a:buSzPts val="1650"/>
              <a:buFont typeface="Arial"/>
              <a:buNone/>
            </a:pPr>
            <a:r>
              <a:t/>
            </a:r>
            <a:endParaRPr sz="1650">
              <a:solidFill>
                <a:srgbClr val="112539"/>
              </a:solidFill>
            </a:endParaRPr>
          </a:p>
        </p:txBody>
      </p:sp>
      <p:sp>
        <p:nvSpPr>
          <p:cNvPr id="209" name="Google Shape;209;p27"/>
          <p:cNvSpPr/>
          <p:nvPr/>
        </p:nvSpPr>
        <p:spPr>
          <a:xfrm>
            <a:off x="5033183" y="1133856"/>
            <a:ext cx="632765" cy="292608"/>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27"/>
          <p:cNvSpPr txBox="1"/>
          <p:nvPr/>
        </p:nvSpPr>
        <p:spPr>
          <a:xfrm>
            <a:off x="5142911" y="1165860"/>
            <a:ext cx="449885"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sp>
        <p:nvSpPr>
          <p:cNvPr id="211" name="Google Shape;211;p2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2" name="Google Shape;212;p27"/>
          <p:cNvSpPr txBox="1"/>
          <p:nvPr/>
        </p:nvSpPr>
        <p:spPr>
          <a:xfrm>
            <a:off x="502914" y="6083622"/>
            <a:ext cx="10689300" cy="3693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lang="en-US" sz="1080">
                <a:solidFill>
                  <a:srgbClr val="657589"/>
                </a:solidFill>
              </a:rPr>
              <a:t>POCUS stands for point-of-care ultrasound: a doctor scans the patient at the bedside with a handheld or portable probe</a:t>
            </a:r>
            <a:endParaRPr sz="1080">
              <a:solidFill>
                <a:srgbClr val="657589"/>
              </a:solidFill>
            </a:endParaRPr>
          </a:p>
          <a:p>
            <a:pPr indent="0" lvl="0" marL="0" marR="0" rtl="0" algn="l">
              <a:lnSpc>
                <a:spcPct val="100000"/>
              </a:lnSpc>
              <a:spcBef>
                <a:spcPts val="0"/>
              </a:spcBef>
              <a:spcAft>
                <a:spcPts val="0"/>
              </a:spcAft>
              <a:buNone/>
            </a:pPr>
            <a:r>
              <a:rPr lang="en-US" sz="1080">
                <a:solidFill>
                  <a:srgbClr val="657589"/>
                </a:solidFill>
              </a:rPr>
              <a:t>(Kumar et al., POCUS Journal, 2026)</a:t>
            </a:r>
            <a:endParaRPr sz="1080">
              <a:solidFill>
                <a:srgbClr val="6575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17" name="Shape 217"/>
        <p:cNvGrpSpPr/>
        <p:nvPr/>
      </p:nvGrpSpPr>
      <p:grpSpPr>
        <a:xfrm>
          <a:off x="0" y="0"/>
          <a:ext cx="0" cy="0"/>
          <a:chOff x="0" y="0"/>
          <a:chExt cx="0" cy="0"/>
        </a:xfrm>
      </p:grpSpPr>
      <p:sp>
        <p:nvSpPr>
          <p:cNvPr id="218" name="Google Shape;218;p28"/>
          <p:cNvSpPr/>
          <p:nvPr/>
        </p:nvSpPr>
        <p:spPr>
          <a:xfrm>
            <a:off x="0" y="0"/>
            <a:ext cx="118872"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p28"/>
          <p:cNvSpPr txBox="1"/>
          <p:nvPr/>
        </p:nvSpPr>
        <p:spPr>
          <a:xfrm>
            <a:off x="502920" y="228600"/>
            <a:ext cx="10881360" cy="2194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220" name="Google Shape;220;p28"/>
          <p:cNvSpPr txBox="1"/>
          <p:nvPr/>
        </p:nvSpPr>
        <p:spPr>
          <a:xfrm>
            <a:off x="502920" y="612648"/>
            <a:ext cx="10972800" cy="464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2539"/>
                </a:solidFill>
                <a:latin typeface="Arial"/>
                <a:ea typeface="Arial"/>
                <a:cs typeface="Arial"/>
                <a:sym typeface="Arial"/>
              </a:rPr>
              <a:t>Baseline and </a:t>
            </a:r>
            <a:r>
              <a:rPr b="1" lang="en-US" sz="2900">
                <a:solidFill>
                  <a:srgbClr val="112539"/>
                </a:solidFill>
              </a:rPr>
              <a:t>Backbone</a:t>
            </a:r>
            <a:endParaRPr b="0" i="0" sz="1400" u="none" cap="none" strike="noStrike">
              <a:solidFill>
                <a:srgbClr val="000000"/>
              </a:solidFill>
              <a:latin typeface="Arial"/>
              <a:ea typeface="Arial"/>
              <a:cs typeface="Arial"/>
              <a:sym typeface="Arial"/>
            </a:endParaRPr>
          </a:p>
        </p:txBody>
      </p:sp>
      <p:sp>
        <p:nvSpPr>
          <p:cNvPr id="221" name="Google Shape;221;p28"/>
          <p:cNvSpPr/>
          <p:nvPr/>
        </p:nvSpPr>
        <p:spPr>
          <a:xfrm>
            <a:off x="502920" y="6473952"/>
            <a:ext cx="11201400" cy="15544"/>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28"/>
          <p:cNvSpPr txBox="1"/>
          <p:nvPr/>
        </p:nvSpPr>
        <p:spPr>
          <a:xfrm>
            <a:off x="11064240" y="6510528"/>
            <a:ext cx="612648" cy="164592"/>
          </a:xfrm>
          <a:prstGeom prst="rect">
            <a:avLst/>
          </a:prstGeom>
          <a:noFill/>
          <a:ln>
            <a:noFill/>
          </a:ln>
        </p:spPr>
        <p:txBody>
          <a:bodyPr anchorCtr="0" anchor="t" bIns="9125" lIns="0" spcFirstLastPara="1" rIns="0" wrap="square" tIns="9125">
            <a:sp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606E7D"/>
                </a:solidFill>
                <a:latin typeface="Arial"/>
                <a:ea typeface="Arial"/>
                <a:cs typeface="Arial"/>
                <a:sym typeface="Arial"/>
              </a:rPr>
              <a:t>03 / 11</a:t>
            </a:r>
            <a:endParaRPr b="0" i="0" sz="1400" u="none" cap="none" strike="noStrike">
              <a:solidFill>
                <a:srgbClr val="000000"/>
              </a:solidFill>
              <a:latin typeface="Arial"/>
              <a:ea typeface="Arial"/>
              <a:cs typeface="Arial"/>
              <a:sym typeface="Arial"/>
            </a:endParaRPr>
          </a:p>
        </p:txBody>
      </p:sp>
      <p:sp>
        <p:nvSpPr>
          <p:cNvPr id="223" name="Google Shape;223;p28"/>
          <p:cNvSpPr/>
          <p:nvPr/>
        </p:nvSpPr>
        <p:spPr>
          <a:xfrm>
            <a:off x="502920" y="1280160"/>
            <a:ext cx="6296290" cy="4334256"/>
          </a:xfrm>
          <a:prstGeom prst="roundRect">
            <a:avLst>
              <a:gd fmla="val 4641"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28"/>
          <p:cNvSpPr/>
          <p:nvPr/>
        </p:nvSpPr>
        <p:spPr>
          <a:xfrm>
            <a:off x="7000378" y="1280160"/>
            <a:ext cx="4688397" cy="4334256"/>
          </a:xfrm>
          <a:prstGeom prst="roundRect">
            <a:avLst>
              <a:gd fmla="val 4641"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28"/>
          <p:cNvSpPr txBox="1"/>
          <p:nvPr/>
        </p:nvSpPr>
        <p:spPr>
          <a:xfrm>
            <a:off x="7201550" y="1518862"/>
            <a:ext cx="4286100" cy="4025700"/>
          </a:xfrm>
          <a:prstGeom prst="rect">
            <a:avLst/>
          </a:prstGeom>
          <a:noFill/>
          <a:ln>
            <a:noFill/>
          </a:ln>
        </p:spPr>
        <p:txBody>
          <a:bodyPr anchorCtr="0" anchor="t" bIns="9125" lIns="0" spcFirstLastPara="1" rIns="0" wrap="square" tIns="9125">
            <a:spAutoFit/>
          </a:bodyPr>
          <a:lstStyle/>
          <a:p>
            <a:pPr indent="0" lvl="0" marL="0" rtl="0" algn="l">
              <a:spcBef>
                <a:spcPts val="600"/>
              </a:spcBef>
              <a:spcAft>
                <a:spcPts val="0"/>
              </a:spcAft>
              <a:buClr>
                <a:schemeClr val="dk1"/>
              </a:buClr>
              <a:buSzPts val="1650"/>
              <a:buFont typeface="Arial"/>
              <a:buNone/>
            </a:pPr>
            <a:r>
              <a:rPr lang="en-US" sz="1650">
                <a:solidFill>
                  <a:srgbClr val="112539"/>
                </a:solidFill>
              </a:rPr>
              <a:t>Four models tested</a:t>
            </a:r>
            <a:endParaRPr sz="1650">
              <a:solidFill>
                <a:srgbClr val="112539"/>
              </a:solidFill>
            </a:endParaRPr>
          </a:p>
          <a:p>
            <a:pPr indent="0" lvl="0" marL="0" rtl="0" algn="l">
              <a:spcBef>
                <a:spcPts val="600"/>
              </a:spcBef>
              <a:spcAft>
                <a:spcPts val="0"/>
              </a:spcAft>
              <a:buClr>
                <a:schemeClr val="dk1"/>
              </a:buClr>
              <a:buSzPts val="1650"/>
              <a:buFont typeface="Arial"/>
              <a:buNone/>
            </a:pPr>
            <a:r>
              <a:rPr lang="en-US" sz="1650">
                <a:solidFill>
                  <a:srgbClr val="112539"/>
                </a:solidFill>
              </a:rPr>
              <a:t>Beat: always normal 0.41 M-F1</a:t>
            </a:r>
            <a:endParaRPr sz="1650">
              <a:solidFill>
                <a:srgbClr val="112539"/>
              </a:solidFill>
            </a:endParaRPr>
          </a:p>
          <a:p>
            <a:pPr indent="0" lvl="0" marL="0" rtl="0" algn="l">
              <a:spcBef>
                <a:spcPts val="600"/>
              </a:spcBef>
              <a:spcAft>
                <a:spcPts val="0"/>
              </a:spcAft>
              <a:buClr>
                <a:schemeClr val="dk1"/>
              </a:buClr>
              <a:buSzPts val="1650"/>
              <a:buFont typeface="Arial"/>
              <a:buNone/>
            </a:pPr>
            <a:r>
              <a:rPr lang="en-US" sz="1650">
                <a:solidFill>
                  <a:srgbClr val="112539"/>
                </a:solidFill>
              </a:rPr>
              <a:t>Round 1: 16 frames</a:t>
            </a:r>
            <a:endParaRPr sz="1650">
              <a:solidFill>
                <a:srgbClr val="112539"/>
              </a:solidFill>
            </a:endParaRPr>
          </a:p>
          <a:p>
            <a:pPr indent="0" lvl="0" marL="0" rtl="0" algn="l">
              <a:spcBef>
                <a:spcPts val="600"/>
              </a:spcBef>
              <a:spcAft>
                <a:spcPts val="0"/>
              </a:spcAft>
              <a:buClr>
                <a:schemeClr val="dk1"/>
              </a:buClr>
              <a:buSzPts val="1650"/>
              <a:buFont typeface="Arial"/>
              <a:buNone/>
            </a:pPr>
            <a:r>
              <a:rPr lang="en-US" sz="1650">
                <a:solidFill>
                  <a:srgbClr val="112539"/>
                </a:solidFill>
              </a:rPr>
              <a:t>Round 2: test 8, 4 frames</a:t>
            </a:r>
            <a:endParaRPr sz="1650">
              <a:solidFill>
                <a:srgbClr val="112539"/>
              </a:solidFill>
            </a:endParaRPr>
          </a:p>
          <a:p>
            <a:pPr indent="0" lvl="0" marL="0" rtl="0" algn="l">
              <a:spcBef>
                <a:spcPts val="600"/>
              </a:spcBef>
              <a:spcAft>
                <a:spcPts val="0"/>
              </a:spcAft>
              <a:buClr>
                <a:schemeClr val="dk1"/>
              </a:buClr>
              <a:buSzPts val="1650"/>
              <a:buFont typeface="Arial"/>
              <a:buNone/>
            </a:pPr>
            <a:r>
              <a:t/>
            </a:r>
            <a:endParaRPr sz="1650">
              <a:solidFill>
                <a:srgbClr val="112539"/>
              </a:solidFill>
            </a:endParaRPr>
          </a:p>
          <a:p>
            <a:pPr indent="0" lvl="0" marL="0" rtl="0" algn="l">
              <a:spcBef>
                <a:spcPts val="600"/>
              </a:spcBef>
              <a:spcAft>
                <a:spcPts val="0"/>
              </a:spcAft>
              <a:buClr>
                <a:schemeClr val="dk1"/>
              </a:buClr>
              <a:buSzPts val="1650"/>
              <a:buFont typeface="Arial"/>
              <a:buNone/>
            </a:pPr>
            <a:r>
              <a:rPr b="1" lang="en-US" sz="1650">
                <a:solidFill>
                  <a:srgbClr val="112539"/>
                </a:solidFill>
              </a:rPr>
              <a:t>TinyViT</a:t>
            </a:r>
            <a:r>
              <a:rPr lang="en-US" sz="1650">
                <a:solidFill>
                  <a:srgbClr val="112539"/>
                </a:solidFill>
              </a:rPr>
              <a:t> vs. MobileNetV2:</a:t>
            </a:r>
            <a:endParaRPr sz="1650">
              <a:solidFill>
                <a:srgbClr val="112539"/>
              </a:solidFill>
            </a:endParaRPr>
          </a:p>
          <a:p>
            <a:pPr indent="-333375" lvl="0" marL="457200" rtl="0" algn="l">
              <a:spcBef>
                <a:spcPts val="600"/>
              </a:spcBef>
              <a:spcAft>
                <a:spcPts val="0"/>
              </a:spcAft>
              <a:buClr>
                <a:srgbClr val="112539"/>
              </a:buClr>
              <a:buSzPts val="1650"/>
              <a:buChar char="-"/>
            </a:pPr>
            <a:r>
              <a:rPr lang="en-US" sz="1650">
                <a:solidFill>
                  <a:srgbClr val="112539"/>
                </a:solidFill>
              </a:rPr>
              <a:t>frame knob:  -0.01 loss vs. -0.10</a:t>
            </a:r>
            <a:endParaRPr sz="1650">
              <a:solidFill>
                <a:srgbClr val="112539"/>
              </a:solidFill>
            </a:endParaRPr>
          </a:p>
          <a:p>
            <a:pPr indent="-333375" lvl="0" marL="457200" rtl="0" algn="l">
              <a:spcBef>
                <a:spcPts val="0"/>
              </a:spcBef>
              <a:spcAft>
                <a:spcPts val="0"/>
              </a:spcAft>
              <a:buClr>
                <a:srgbClr val="112539"/>
              </a:buClr>
              <a:buSzPts val="1650"/>
              <a:buChar char="-"/>
            </a:pPr>
            <a:r>
              <a:rPr lang="en-US" sz="1650">
                <a:solidFill>
                  <a:srgbClr val="112539"/>
                </a:solidFill>
              </a:rPr>
              <a:t>same compute cost, same score</a:t>
            </a:r>
            <a:endParaRPr sz="1650">
              <a:solidFill>
                <a:srgbClr val="112539"/>
              </a:solidFill>
            </a:endParaRPr>
          </a:p>
          <a:p>
            <a:pPr indent="-333375" lvl="0" marL="457200" rtl="0" algn="l">
              <a:spcBef>
                <a:spcPts val="0"/>
              </a:spcBef>
              <a:spcAft>
                <a:spcPts val="0"/>
              </a:spcAft>
              <a:buClr>
                <a:srgbClr val="112539"/>
              </a:buClr>
              <a:buSzPts val="1650"/>
              <a:buChar char="-"/>
            </a:pPr>
            <a:r>
              <a:rPr lang="en-US" sz="1650">
                <a:solidFill>
                  <a:srgbClr val="112539"/>
                </a:solidFill>
              </a:rPr>
              <a:t>more GFLOP room to scale down</a:t>
            </a:r>
            <a:endParaRPr sz="1650">
              <a:solidFill>
                <a:srgbClr val="112539"/>
              </a:solidFill>
            </a:endParaRPr>
          </a:p>
          <a:p>
            <a:pPr indent="0" lvl="0" marL="0" rtl="0" algn="l">
              <a:spcBef>
                <a:spcPts val="1600"/>
              </a:spcBef>
              <a:spcAft>
                <a:spcPts val="0"/>
              </a:spcAft>
              <a:buClr>
                <a:schemeClr val="dk1"/>
              </a:buClr>
              <a:buSzPts val="1650"/>
              <a:buFont typeface="Arial"/>
              <a:buNone/>
            </a:pPr>
            <a:r>
              <a:rPr b="1" lang="en-US" sz="1650">
                <a:solidFill>
                  <a:srgbClr val="0E8D88"/>
                </a:solidFill>
              </a:rPr>
              <a:t>Backbone</a:t>
            </a:r>
            <a:r>
              <a:rPr b="1" lang="en-US" sz="1650">
                <a:solidFill>
                  <a:srgbClr val="0E8D88"/>
                </a:solidFill>
              </a:rPr>
              <a:t>: 	TinyViT</a:t>
            </a:r>
            <a:br>
              <a:rPr b="1" lang="en-US" sz="1650">
                <a:solidFill>
                  <a:schemeClr val="dk1"/>
                </a:solidFill>
              </a:rPr>
            </a:br>
            <a:r>
              <a:rPr b="1" lang="en-US" sz="1650">
                <a:solidFill>
                  <a:srgbClr val="0E8D88"/>
                </a:solidFill>
              </a:rPr>
              <a:t>Baseline: 	TinyViT 16 frames</a:t>
            </a:r>
            <a:br>
              <a:rPr lang="en-US" sz="1650">
                <a:solidFill>
                  <a:srgbClr val="112539"/>
                </a:solidFill>
              </a:rPr>
            </a:br>
            <a:r>
              <a:rPr b="1" i="0" lang="en-US" sz="1650" u="none" cap="none" strike="noStrike">
                <a:solidFill>
                  <a:srgbClr val="0E8D88"/>
                </a:solidFill>
                <a:latin typeface="Arial"/>
                <a:ea typeface="Arial"/>
                <a:cs typeface="Arial"/>
                <a:sym typeface="Arial"/>
              </a:rPr>
              <a:t>Refe</a:t>
            </a:r>
            <a:r>
              <a:rPr b="1" i="0" lang="en-US" sz="1650" u="none" cap="none" strike="noStrike">
                <a:solidFill>
                  <a:srgbClr val="0E8D88"/>
                </a:solidFill>
                <a:latin typeface="Arial"/>
                <a:ea typeface="Arial"/>
                <a:cs typeface="Arial"/>
                <a:sym typeface="Arial"/>
              </a:rPr>
              <a:t>r</a:t>
            </a:r>
            <a:r>
              <a:rPr b="1" i="0" lang="en-US" sz="1650" u="none" cap="none" strike="noStrike">
                <a:solidFill>
                  <a:srgbClr val="0E8D88"/>
                </a:solidFill>
                <a:latin typeface="Arial"/>
                <a:ea typeface="Arial"/>
                <a:cs typeface="Arial"/>
                <a:sym typeface="Arial"/>
              </a:rPr>
              <a:t>ence: 	MobileNetV2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5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8"/>
          <p:cNvSpPr/>
          <p:nvPr/>
        </p:nvSpPr>
        <p:spPr>
          <a:xfrm>
            <a:off x="7183258" y="1133856"/>
            <a:ext cx="722376" cy="292608"/>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28"/>
          <p:cNvSpPr txBox="1"/>
          <p:nvPr/>
        </p:nvSpPr>
        <p:spPr>
          <a:xfrm>
            <a:off x="7292986" y="1165860"/>
            <a:ext cx="539496"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SETUP</a:t>
            </a:r>
            <a:endParaRPr b="0" i="0" sz="1400" u="none" cap="none" strike="noStrike">
              <a:solidFill>
                <a:srgbClr val="000000"/>
              </a:solidFill>
              <a:latin typeface="Arial"/>
              <a:ea typeface="Arial"/>
              <a:cs typeface="Arial"/>
              <a:sym typeface="Arial"/>
            </a:endParaRPr>
          </a:p>
        </p:txBody>
      </p:sp>
      <p:pic>
        <p:nvPicPr>
          <p:cNvPr id="228" name="Google Shape;228;p28"/>
          <p:cNvPicPr preferRelativeResize="0"/>
          <p:nvPr/>
        </p:nvPicPr>
        <p:blipFill>
          <a:blip r:embed="rId3">
            <a:alphaModFix/>
          </a:blip>
          <a:stretch>
            <a:fillRect/>
          </a:stretch>
        </p:blipFill>
        <p:spPr>
          <a:xfrm>
            <a:off x="658225" y="1439038"/>
            <a:ext cx="6003964" cy="401485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32" name="Shape 232"/>
        <p:cNvGrpSpPr/>
        <p:nvPr/>
      </p:nvGrpSpPr>
      <p:grpSpPr>
        <a:xfrm>
          <a:off x="0" y="0"/>
          <a:ext cx="0" cy="0"/>
          <a:chOff x="0" y="0"/>
          <a:chExt cx="0" cy="0"/>
        </a:xfrm>
      </p:grpSpPr>
      <p:sp>
        <p:nvSpPr>
          <p:cNvPr id="233" name="Google Shape;233;p29"/>
          <p:cNvSpPr/>
          <p:nvPr/>
        </p:nvSpPr>
        <p:spPr>
          <a:xfrm>
            <a:off x="0" y="0"/>
            <a:ext cx="118872"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29"/>
          <p:cNvSpPr txBox="1"/>
          <p:nvPr/>
        </p:nvSpPr>
        <p:spPr>
          <a:xfrm>
            <a:off x="502920" y="228600"/>
            <a:ext cx="10881360" cy="2194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235" name="Google Shape;235;p29"/>
          <p:cNvSpPr txBox="1"/>
          <p:nvPr/>
        </p:nvSpPr>
        <p:spPr>
          <a:xfrm>
            <a:off x="502920" y="612648"/>
            <a:ext cx="10972800" cy="464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2539"/>
                </a:solidFill>
                <a:latin typeface="Arial"/>
                <a:ea typeface="Arial"/>
                <a:cs typeface="Arial"/>
                <a:sym typeface="Arial"/>
              </a:rPr>
              <a:t>Structured Pruning</a:t>
            </a:r>
            <a:endParaRPr b="0" i="0" sz="1400" u="none" cap="none" strike="noStrike">
              <a:solidFill>
                <a:srgbClr val="000000"/>
              </a:solidFill>
              <a:latin typeface="Arial"/>
              <a:ea typeface="Arial"/>
              <a:cs typeface="Arial"/>
              <a:sym typeface="Arial"/>
            </a:endParaRPr>
          </a:p>
        </p:txBody>
      </p:sp>
      <p:sp>
        <p:nvSpPr>
          <p:cNvPr id="236" name="Google Shape;236;p29"/>
          <p:cNvSpPr/>
          <p:nvPr/>
        </p:nvSpPr>
        <p:spPr>
          <a:xfrm>
            <a:off x="502920" y="6473952"/>
            <a:ext cx="11201400" cy="15544"/>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29"/>
          <p:cNvSpPr txBox="1"/>
          <p:nvPr/>
        </p:nvSpPr>
        <p:spPr>
          <a:xfrm>
            <a:off x="11064240" y="6510528"/>
            <a:ext cx="612648" cy="164592"/>
          </a:xfrm>
          <a:prstGeom prst="rect">
            <a:avLst/>
          </a:prstGeom>
          <a:noFill/>
          <a:ln>
            <a:noFill/>
          </a:ln>
        </p:spPr>
        <p:txBody>
          <a:bodyPr anchorCtr="0" anchor="t" bIns="9125" lIns="0" spcFirstLastPara="1" rIns="0" wrap="square" tIns="9125">
            <a:sp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606E7D"/>
                </a:solidFill>
                <a:latin typeface="Arial"/>
                <a:ea typeface="Arial"/>
                <a:cs typeface="Arial"/>
                <a:sym typeface="Arial"/>
              </a:rPr>
              <a:t>04 / 11</a:t>
            </a:r>
            <a:endParaRPr b="0" i="0" sz="1400" u="none" cap="none" strike="noStrike">
              <a:solidFill>
                <a:srgbClr val="000000"/>
              </a:solidFill>
              <a:latin typeface="Arial"/>
              <a:ea typeface="Arial"/>
              <a:cs typeface="Arial"/>
              <a:sym typeface="Arial"/>
            </a:endParaRPr>
          </a:p>
        </p:txBody>
      </p:sp>
      <p:sp>
        <p:nvSpPr>
          <p:cNvPr id="238" name="Google Shape;238;p29"/>
          <p:cNvSpPr/>
          <p:nvPr/>
        </p:nvSpPr>
        <p:spPr>
          <a:xfrm>
            <a:off x="502920" y="1280160"/>
            <a:ext cx="11185855" cy="3017520"/>
          </a:xfrm>
          <a:prstGeom prst="roundRect">
            <a:avLst>
              <a:gd fmla="val 6116"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239" name="Google Shape;239;p29"/>
          <p:cNvPicPr preferRelativeResize="0"/>
          <p:nvPr/>
        </p:nvPicPr>
        <p:blipFill rotWithShape="1">
          <a:blip r:embed="rId3">
            <a:alphaModFix/>
          </a:blip>
          <a:srcRect b="0" l="0" r="0" t="0"/>
          <a:stretch/>
        </p:blipFill>
        <p:spPr>
          <a:xfrm>
            <a:off x="1307736" y="1371600"/>
            <a:ext cx="9576223" cy="2834640"/>
          </a:xfrm>
          <a:prstGeom prst="rect">
            <a:avLst/>
          </a:prstGeom>
          <a:noFill/>
          <a:ln>
            <a:noFill/>
          </a:ln>
        </p:spPr>
      </p:pic>
      <p:sp>
        <p:nvSpPr>
          <p:cNvPr id="240" name="Google Shape;240;p29"/>
          <p:cNvSpPr/>
          <p:nvPr/>
        </p:nvSpPr>
        <p:spPr>
          <a:xfrm>
            <a:off x="502920" y="4480560"/>
            <a:ext cx="5492344" cy="1152144"/>
          </a:xfrm>
          <a:prstGeom prst="roundRect">
            <a:avLst>
              <a:gd fmla="val 23826"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p29"/>
          <p:cNvSpPr txBox="1"/>
          <p:nvPr/>
        </p:nvSpPr>
        <p:spPr>
          <a:xfrm>
            <a:off x="704088" y="4626864"/>
            <a:ext cx="5090100" cy="8686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Tried first:</a:t>
            </a:r>
            <a:r>
              <a:rPr b="0" i="0" lang="en-US" sz="1500" u="none" cap="none" strike="noStrike">
                <a:solidFill>
                  <a:srgbClr val="112539"/>
                </a:solidFill>
                <a:latin typeface="Arial"/>
                <a:ea typeface="Arial"/>
                <a:cs typeface="Arial"/>
                <a:sym typeface="Arial"/>
              </a:rPr>
              <a:t> 8-bit: 3x smaller file, same FLOPs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Then:</a:t>
            </a:r>
            <a:r>
              <a:rPr b="0" i="0" lang="en-US" sz="1500" u="none" cap="none" strike="noStrike">
                <a:solidFill>
                  <a:srgbClr val="112539"/>
                </a:solidFill>
                <a:latin typeface="Arial"/>
                <a:ea typeface="Arial"/>
                <a:cs typeface="Arial"/>
                <a:sym typeface="Arial"/>
              </a:rPr>
              <a:t> cut whole inner channels (59% of compute)</a:t>
            </a:r>
            <a:endParaRPr b="0" i="0" sz="1400" u="none" cap="none" strike="noStrike">
              <a:solidFill>
                <a:srgbClr val="000000"/>
              </a:solidFill>
              <a:latin typeface="Arial"/>
              <a:ea typeface="Arial"/>
              <a:cs typeface="Arial"/>
              <a:sym typeface="Arial"/>
            </a:endParaRPr>
          </a:p>
        </p:txBody>
      </p:sp>
      <p:sp>
        <p:nvSpPr>
          <p:cNvPr id="242" name="Google Shape;242;p29"/>
          <p:cNvSpPr/>
          <p:nvPr/>
        </p:nvSpPr>
        <p:spPr>
          <a:xfrm>
            <a:off x="6196432" y="4480560"/>
            <a:ext cx="5492344" cy="1152144"/>
          </a:xfrm>
          <a:prstGeom prst="roundRect">
            <a:avLst>
              <a:gd fmla="val 23826"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29"/>
          <p:cNvSpPr txBox="1"/>
          <p:nvPr/>
        </p:nvSpPr>
        <p:spPr>
          <a:xfrm>
            <a:off x="6397600" y="4626864"/>
            <a:ext cx="5090100" cy="849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Nested:</a:t>
            </a:r>
            <a:r>
              <a:rPr b="0" i="0" lang="en-US" sz="1500" u="none" cap="none" strike="noStrike">
                <a:solidFill>
                  <a:srgbClr val="112539"/>
                </a:solidFill>
                <a:latin typeface="Arial"/>
                <a:ea typeface="Arial"/>
                <a:cs typeface="Arial"/>
                <a:sym typeface="Arial"/>
              </a:rPr>
              <a:t> sorted by Taylor, keep 25–100% in one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Retrained:</a:t>
            </a:r>
            <a:r>
              <a:rPr b="0" i="0" lang="en-US" sz="1500" u="none" cap="none" strike="noStrike">
                <a:solidFill>
                  <a:srgbClr val="112539"/>
                </a:solidFill>
                <a:latin typeface="Arial"/>
                <a:ea typeface="Arial"/>
                <a:cs typeface="Arial"/>
                <a:sym typeface="Arial"/>
              </a:rPr>
              <a:t> knowledge distillation, frozen teacher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60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9"/>
          <p:cNvSpPr/>
          <p:nvPr/>
        </p:nvSpPr>
        <p:spPr>
          <a:xfrm>
            <a:off x="502920" y="5815584"/>
            <a:ext cx="11185855" cy="530352"/>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5" name="Google Shape;245;p29"/>
          <p:cNvSpPr txBox="1"/>
          <p:nvPr/>
        </p:nvSpPr>
        <p:spPr>
          <a:xfrm>
            <a:off x="777240" y="5934456"/>
            <a:ext cx="10637100" cy="2802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112539"/>
                </a:solidFill>
                <a:latin typeface="Arial"/>
                <a:ea typeface="Arial"/>
                <a:cs typeface="Arial"/>
                <a:sym typeface="Arial"/>
              </a:rPr>
              <a:t>Second knob: 25% width close on average, 2× faster at 16 frames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50" name="Shape 250"/>
        <p:cNvGrpSpPr/>
        <p:nvPr/>
      </p:nvGrpSpPr>
      <p:grpSpPr>
        <a:xfrm>
          <a:off x="0" y="0"/>
          <a:ext cx="0" cy="0"/>
          <a:chOff x="0" y="0"/>
          <a:chExt cx="0" cy="0"/>
        </a:xfrm>
      </p:grpSpPr>
      <p:sp>
        <p:nvSpPr>
          <p:cNvPr id="251" name="Google Shape;251;p30"/>
          <p:cNvSpPr/>
          <p:nvPr/>
        </p:nvSpPr>
        <p:spPr>
          <a:xfrm>
            <a:off x="0" y="0"/>
            <a:ext cx="118872"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30"/>
          <p:cNvSpPr txBox="1"/>
          <p:nvPr/>
        </p:nvSpPr>
        <p:spPr>
          <a:xfrm>
            <a:off x="502920" y="228600"/>
            <a:ext cx="10881360" cy="2194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253" name="Google Shape;253;p30"/>
          <p:cNvSpPr txBox="1"/>
          <p:nvPr/>
        </p:nvSpPr>
        <p:spPr>
          <a:xfrm>
            <a:off x="502920" y="612648"/>
            <a:ext cx="10972800" cy="464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2539"/>
                </a:solidFill>
                <a:latin typeface="Arial"/>
                <a:ea typeface="Arial"/>
                <a:cs typeface="Arial"/>
                <a:sym typeface="Arial"/>
              </a:rPr>
              <a:t>Adaptive Mechanism</a:t>
            </a:r>
            <a:endParaRPr b="0" i="0" sz="1400" u="none" cap="none" strike="noStrike">
              <a:solidFill>
                <a:srgbClr val="000000"/>
              </a:solidFill>
              <a:latin typeface="Arial"/>
              <a:ea typeface="Arial"/>
              <a:cs typeface="Arial"/>
              <a:sym typeface="Arial"/>
            </a:endParaRPr>
          </a:p>
        </p:txBody>
      </p:sp>
      <p:sp>
        <p:nvSpPr>
          <p:cNvPr id="254" name="Google Shape;254;p30"/>
          <p:cNvSpPr/>
          <p:nvPr/>
        </p:nvSpPr>
        <p:spPr>
          <a:xfrm>
            <a:off x="502920" y="6473952"/>
            <a:ext cx="11201400" cy="15544"/>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30"/>
          <p:cNvSpPr txBox="1"/>
          <p:nvPr/>
        </p:nvSpPr>
        <p:spPr>
          <a:xfrm>
            <a:off x="11064240" y="6510528"/>
            <a:ext cx="612648" cy="164592"/>
          </a:xfrm>
          <a:prstGeom prst="rect">
            <a:avLst/>
          </a:prstGeom>
          <a:noFill/>
          <a:ln>
            <a:noFill/>
          </a:ln>
        </p:spPr>
        <p:txBody>
          <a:bodyPr anchorCtr="0" anchor="t" bIns="9125" lIns="0" spcFirstLastPara="1" rIns="0" wrap="square" tIns="9125">
            <a:sp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606E7D"/>
                </a:solidFill>
                <a:latin typeface="Arial"/>
                <a:ea typeface="Arial"/>
                <a:cs typeface="Arial"/>
                <a:sym typeface="Arial"/>
              </a:rPr>
              <a:t>05 / 11</a:t>
            </a:r>
            <a:endParaRPr b="0" i="0" sz="1400" u="none" cap="none" strike="noStrike">
              <a:solidFill>
                <a:srgbClr val="000000"/>
              </a:solidFill>
              <a:latin typeface="Arial"/>
              <a:ea typeface="Arial"/>
              <a:cs typeface="Arial"/>
              <a:sym typeface="Arial"/>
            </a:endParaRPr>
          </a:p>
        </p:txBody>
      </p:sp>
      <p:sp>
        <p:nvSpPr>
          <p:cNvPr id="256" name="Google Shape;256;p30"/>
          <p:cNvSpPr/>
          <p:nvPr/>
        </p:nvSpPr>
        <p:spPr>
          <a:xfrm>
            <a:off x="502920" y="1280160"/>
            <a:ext cx="11185855" cy="2377440"/>
          </a:xfrm>
          <a:prstGeom prst="roundRect">
            <a:avLst>
              <a:gd fmla="val 6741"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257" name="Google Shape;257;p30"/>
          <p:cNvPicPr preferRelativeResize="0"/>
          <p:nvPr/>
        </p:nvPicPr>
        <p:blipFill rotWithShape="1">
          <a:blip r:embed="rId3">
            <a:alphaModFix/>
          </a:blip>
          <a:srcRect b="0" l="0" r="0" t="0"/>
          <a:stretch/>
        </p:blipFill>
        <p:spPr>
          <a:xfrm>
            <a:off x="1749466" y="1371600"/>
            <a:ext cx="8692763" cy="2212848"/>
          </a:xfrm>
          <a:prstGeom prst="rect">
            <a:avLst/>
          </a:prstGeom>
          <a:noFill/>
          <a:ln>
            <a:noFill/>
          </a:ln>
        </p:spPr>
      </p:pic>
      <p:sp>
        <p:nvSpPr>
          <p:cNvPr id="258" name="Google Shape;258;p30"/>
          <p:cNvSpPr/>
          <p:nvPr/>
        </p:nvSpPr>
        <p:spPr>
          <a:xfrm>
            <a:off x="502920" y="3794760"/>
            <a:ext cx="5492344" cy="1892808"/>
          </a:xfrm>
          <a:prstGeom prst="roundRect">
            <a:avLst>
              <a:gd fmla="val 17506"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30"/>
          <p:cNvSpPr txBox="1"/>
          <p:nvPr/>
        </p:nvSpPr>
        <p:spPr>
          <a:xfrm>
            <a:off x="704088" y="3922776"/>
            <a:ext cx="5090100" cy="20001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8D88"/>
                </a:solidFill>
                <a:latin typeface="Arial"/>
                <a:ea typeface="Arial"/>
                <a:cs typeface="Arial"/>
                <a:sym typeface="Arial"/>
              </a:rPr>
              <a:t>1. Before: train one network for all 24</a:t>
            </a:r>
            <a:endParaRPr b="1" sz="1500">
              <a:solidFill>
                <a:srgbClr val="0E8D88"/>
              </a:solidFill>
            </a:endParaRPr>
          </a:p>
          <a:p>
            <a:pPr indent="0" lvl="0" marL="0" rtl="0" algn="l">
              <a:lnSpc>
                <a:spcPct val="115000"/>
              </a:lnSpc>
              <a:spcBef>
                <a:spcPts val="500"/>
              </a:spcBef>
              <a:spcAft>
                <a:spcPts val="0"/>
              </a:spcAft>
              <a:buClr>
                <a:schemeClr val="dk1"/>
              </a:buClr>
              <a:buSzPts val="1100"/>
              <a:buFont typeface="Arial"/>
              <a:buNone/>
            </a:pPr>
            <a:r>
              <a:rPr b="1" lang="en-US" sz="1500">
                <a:solidFill>
                  <a:srgbClr val="112539"/>
                </a:solidFill>
              </a:rPr>
              <a:t>Every training step:</a:t>
            </a:r>
            <a:r>
              <a:rPr lang="en-US" sz="1500">
                <a:solidFill>
                  <a:srgbClr val="112539"/>
                </a:solidFill>
              </a:rPr>
              <a:t> same videos at 3 widths</a:t>
            </a:r>
            <a:endParaRPr sz="1500">
              <a:solidFill>
                <a:srgbClr val="112539"/>
              </a:solidFill>
            </a:endParaRPr>
          </a:p>
          <a:p>
            <a:pPr indent="0" lvl="0" marL="406400" rtl="0" algn="l">
              <a:lnSpc>
                <a:spcPct val="115000"/>
              </a:lnSpc>
              <a:spcBef>
                <a:spcPts val="200"/>
              </a:spcBef>
              <a:spcAft>
                <a:spcPts val="0"/>
              </a:spcAft>
              <a:buClr>
                <a:schemeClr val="dk1"/>
              </a:buClr>
              <a:buSzPts val="1100"/>
              <a:buFont typeface="Arial"/>
              <a:buNone/>
            </a:pPr>
            <a:r>
              <a:rPr lang="en-US" sz="1500">
                <a:solidFill>
                  <a:srgbClr val="112539"/>
                </a:solidFill>
              </a:rPr>
              <a:t>(full, 25%, and 50 or 75%) sandwich rule</a:t>
            </a:r>
            <a:endParaRPr sz="1500">
              <a:solidFill>
                <a:srgbClr val="112539"/>
              </a:solidFill>
            </a:endParaRPr>
          </a:p>
          <a:p>
            <a:pPr indent="0" lvl="0" marL="0" rtl="0" algn="l">
              <a:lnSpc>
                <a:spcPct val="115000"/>
              </a:lnSpc>
              <a:spcBef>
                <a:spcPts val="200"/>
              </a:spcBef>
              <a:spcAft>
                <a:spcPts val="0"/>
              </a:spcAft>
              <a:buClr>
                <a:schemeClr val="dk1"/>
              </a:buClr>
              <a:buSzPts val="1100"/>
              <a:buFont typeface="Arial"/>
              <a:buNone/>
            </a:pPr>
            <a:r>
              <a:rPr b="1" lang="en-US" sz="1500">
                <a:solidFill>
                  <a:srgbClr val="112539"/>
                </a:solidFill>
              </a:rPr>
              <a:t>Each width:</a:t>
            </a:r>
            <a:r>
              <a:rPr lang="en-US" sz="1500">
                <a:solidFill>
                  <a:srgbClr val="112539"/>
                </a:solidFill>
              </a:rPr>
              <a:t> answers from first 1, 2, 4, 8, 16 frames</a:t>
            </a:r>
            <a:endParaRPr sz="1500">
              <a:solidFill>
                <a:srgbClr val="112539"/>
              </a:solidFill>
            </a:endParaRPr>
          </a:p>
          <a:p>
            <a:pPr indent="0" lvl="0" marL="0" rtl="0" algn="l">
              <a:lnSpc>
                <a:spcPct val="115000"/>
              </a:lnSpc>
              <a:spcBef>
                <a:spcPts val="200"/>
              </a:spcBef>
              <a:spcAft>
                <a:spcPts val="0"/>
              </a:spcAft>
              <a:buClr>
                <a:schemeClr val="dk1"/>
              </a:buClr>
              <a:buSzPts val="1100"/>
              <a:buFont typeface="Arial"/>
              <a:buNone/>
            </a:pPr>
            <a:r>
              <a:rPr b="1" lang="en-US" sz="1500">
                <a:solidFill>
                  <a:srgbClr val="112539"/>
                </a:solidFill>
              </a:rPr>
              <a:t>Distillation </a:t>
            </a:r>
            <a:r>
              <a:rPr lang="en-US" sz="1500">
                <a:solidFill>
                  <a:srgbClr val="112539"/>
                </a:solidFill>
              </a:rPr>
              <a:t>with Baseline 16 teacher per frame setting</a:t>
            </a:r>
            <a:endParaRPr sz="1500">
              <a:solidFill>
                <a:srgbClr val="112539"/>
              </a:solidFill>
            </a:endParaRPr>
          </a:p>
          <a:p>
            <a:pPr indent="0" lvl="0" marL="0" rtl="0" algn="l">
              <a:lnSpc>
                <a:spcPct val="115000"/>
              </a:lnSpc>
              <a:spcBef>
                <a:spcPts val="200"/>
              </a:spcBef>
              <a:spcAft>
                <a:spcPts val="0"/>
              </a:spcAft>
              <a:buClr>
                <a:schemeClr val="dk1"/>
              </a:buClr>
              <a:buSzPts val="1100"/>
              <a:buFont typeface="Arial"/>
              <a:buNone/>
            </a:pPr>
            <a:r>
              <a:rPr b="1" lang="en-US" sz="1500">
                <a:solidFill>
                  <a:srgbClr val="112539"/>
                </a:solidFill>
              </a:rPr>
              <a:t>Checked in torch:</a:t>
            </a:r>
            <a:r>
              <a:rPr lang="en-US" sz="1500">
                <a:solidFill>
                  <a:srgbClr val="112539"/>
                </a:solidFill>
              </a:rPr>
              <a:t> all widths share the weights</a:t>
            </a:r>
            <a:endParaRPr sz="1500">
              <a:solidFill>
                <a:srgbClr val="112539"/>
              </a:solidFill>
            </a:endParaRPr>
          </a:p>
          <a:p>
            <a:pPr indent="0" lvl="0" marL="0" marR="0" rtl="0" algn="l">
              <a:lnSpc>
                <a:spcPct val="100000"/>
              </a:lnSpc>
              <a:spcBef>
                <a:spcPts val="200"/>
              </a:spcBef>
              <a:spcAft>
                <a:spcPts val="200"/>
              </a:spcAft>
              <a:buClr>
                <a:srgbClr val="000000"/>
              </a:buClr>
              <a:buSzPts val="1500"/>
              <a:buFont typeface="Arial"/>
              <a:buNone/>
            </a:pPr>
            <a:r>
              <a:t/>
            </a:r>
            <a:endParaRPr b="1" sz="1500">
              <a:solidFill>
                <a:srgbClr val="112539"/>
              </a:solidFill>
            </a:endParaRPr>
          </a:p>
        </p:txBody>
      </p:sp>
      <p:sp>
        <p:nvSpPr>
          <p:cNvPr id="260" name="Google Shape;260;p30"/>
          <p:cNvSpPr/>
          <p:nvPr/>
        </p:nvSpPr>
        <p:spPr>
          <a:xfrm>
            <a:off x="6196432" y="3794760"/>
            <a:ext cx="5492344" cy="1892808"/>
          </a:xfrm>
          <a:prstGeom prst="roundRect">
            <a:avLst>
              <a:gd fmla="val 17506"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30"/>
          <p:cNvSpPr txBox="1"/>
          <p:nvPr/>
        </p:nvSpPr>
        <p:spPr>
          <a:xfrm>
            <a:off x="6397600" y="3922776"/>
            <a:ext cx="5090008" cy="16642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8D88"/>
                </a:solidFill>
                <a:latin typeface="Arial"/>
                <a:ea typeface="Arial"/>
                <a:cs typeface="Arial"/>
                <a:sym typeface="Arial"/>
              </a:rPr>
              <a:t>2. In use: pick 1 of 24 per video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Dial 1:</a:t>
            </a:r>
            <a:r>
              <a:rPr b="0" i="0" lang="en-US" sz="1500" u="none" cap="none" strike="noStrike">
                <a:solidFill>
                  <a:srgbClr val="112539"/>
                </a:solidFill>
                <a:latin typeface="Arial"/>
                <a:ea typeface="Arial"/>
                <a:cs typeface="Arial"/>
                <a:sym typeface="Arial"/>
              </a:rPr>
              <a:t> 1, 2, 4, 8, 12 or 16 frames</a:t>
            </a:r>
            <a:endParaRPr b="0" i="0" sz="1400" u="none" cap="none" strike="noStrike">
              <a:solidFill>
                <a:srgbClr val="000000"/>
              </a:solidFill>
              <a:latin typeface="Arial"/>
              <a:ea typeface="Arial"/>
              <a:cs typeface="Arial"/>
              <a:sym typeface="Arial"/>
            </a:endParaRPr>
          </a:p>
          <a:p>
            <a:pPr indent="0" lvl="0" marL="411480" marR="0" rtl="0" algn="l">
              <a:lnSpc>
                <a:spcPct val="100000"/>
              </a:lnSpc>
              <a:spcBef>
                <a:spcPts val="20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Less budget:</a:t>
            </a:r>
            <a:r>
              <a:rPr b="0" i="0" lang="en-US" sz="1500" u="none" cap="none" strike="noStrike">
                <a:solidFill>
                  <a:srgbClr val="112539"/>
                </a:solidFill>
                <a:latin typeface="Arial"/>
                <a:ea typeface="Arial"/>
                <a:cs typeface="Arial"/>
                <a:sym typeface="Arial"/>
              </a:rPr>
              <a:t> drop the orange frames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Dial 2:</a:t>
            </a:r>
            <a:r>
              <a:rPr b="0" i="0" lang="en-US" sz="1500" u="none" cap="none" strike="noStrike">
                <a:solidFill>
                  <a:srgbClr val="112539"/>
                </a:solidFill>
                <a:latin typeface="Arial"/>
                <a:ea typeface="Arial"/>
                <a:cs typeface="Arial"/>
                <a:sym typeface="Arial"/>
              </a:rPr>
              <a:t> 25, 50, 75 or 100% of channels</a:t>
            </a:r>
            <a:endParaRPr b="0" i="0" sz="1400" u="none" cap="none" strike="noStrike">
              <a:solidFill>
                <a:srgbClr val="000000"/>
              </a:solidFill>
              <a:latin typeface="Arial"/>
              <a:ea typeface="Arial"/>
              <a:cs typeface="Arial"/>
              <a:sym typeface="Arial"/>
            </a:endParaRPr>
          </a:p>
          <a:p>
            <a:pPr indent="0" lvl="0" marL="411480" marR="0" rtl="0" algn="l">
              <a:lnSpc>
                <a:spcPct val="100000"/>
              </a:lnSpc>
              <a:spcBef>
                <a:spcPts val="200"/>
              </a:spcBef>
              <a:spcAft>
                <a:spcPts val="0"/>
              </a:spcAft>
              <a:buClr>
                <a:srgbClr val="000000"/>
              </a:buClr>
              <a:buSzPts val="1500"/>
              <a:buFont typeface="Arial"/>
              <a:buNone/>
            </a:pPr>
            <a:r>
              <a:rPr b="1" i="0" lang="en-US" sz="1500" u="none" cap="none" strike="noStrike">
                <a:solidFill>
                  <a:srgbClr val="112539"/>
                </a:solidFill>
                <a:latin typeface="Arial"/>
                <a:ea typeface="Arial"/>
                <a:cs typeface="Arial"/>
                <a:sym typeface="Arial"/>
              </a:rPr>
              <a:t>Less budget:</a:t>
            </a:r>
            <a:r>
              <a:rPr b="0" i="0" lang="en-US" sz="1500" u="none" cap="none" strike="noStrike">
                <a:solidFill>
                  <a:srgbClr val="112539"/>
                </a:solidFill>
                <a:latin typeface="Arial"/>
                <a:ea typeface="Arial"/>
                <a:cs typeface="Arial"/>
                <a:sym typeface="Arial"/>
              </a:rPr>
              <a:t> drop the least important channels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500"/>
              <a:buFont typeface="Arial"/>
              <a:buNone/>
            </a:pPr>
            <a:r>
              <a:rPr b="1" i="0" lang="en-US" sz="1500" u="none" cap="none" strike="noStrike">
                <a:solidFill>
                  <a:srgbClr val="112539"/>
                </a:solidFill>
                <a:latin typeface="Arial"/>
                <a:ea typeface="Arial"/>
                <a:cs typeface="Arial"/>
                <a:sym typeface="Arial"/>
              </a:rPr>
              <a:t>Switching width:</a:t>
            </a:r>
            <a:r>
              <a:rPr b="0" i="0" lang="en-US" sz="1500" u="none" cap="none" strike="noStrike">
                <a:solidFill>
                  <a:srgbClr val="112539"/>
                </a:solidFill>
                <a:latin typeface="Arial"/>
                <a:ea typeface="Arial"/>
                <a:cs typeface="Arial"/>
                <a:sym typeface="Arial"/>
              </a:rPr>
              <a:t> under 1 ms</a:t>
            </a:r>
            <a:endParaRPr b="0" i="0" sz="1400" u="none" cap="none" strike="noStrike">
              <a:solidFill>
                <a:srgbClr val="000000"/>
              </a:solidFill>
              <a:latin typeface="Arial"/>
              <a:ea typeface="Arial"/>
              <a:cs typeface="Arial"/>
              <a:sym typeface="Arial"/>
            </a:endParaRPr>
          </a:p>
        </p:txBody>
      </p:sp>
      <p:sp>
        <p:nvSpPr>
          <p:cNvPr id="262" name="Google Shape;262;p30"/>
          <p:cNvSpPr/>
          <p:nvPr/>
        </p:nvSpPr>
        <p:spPr>
          <a:xfrm>
            <a:off x="502920" y="5815584"/>
            <a:ext cx="11185855" cy="530352"/>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p30"/>
          <p:cNvSpPr txBox="1"/>
          <p:nvPr/>
        </p:nvSpPr>
        <p:spPr>
          <a:xfrm>
            <a:off x="777240" y="5934456"/>
            <a:ext cx="10637215" cy="292608"/>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112539"/>
                </a:solidFill>
                <a:latin typeface="Arial"/>
                <a:ea typeface="Arial"/>
                <a:cs typeface="Arial"/>
                <a:sym typeface="Arial"/>
              </a:rPr>
              <a:t>24 configurations in one 20.4 MB file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68" name="Shape 268"/>
        <p:cNvGrpSpPr/>
        <p:nvPr/>
      </p:nvGrpSpPr>
      <p:grpSpPr>
        <a:xfrm>
          <a:off x="0" y="0"/>
          <a:ext cx="0" cy="0"/>
          <a:chOff x="0" y="0"/>
          <a:chExt cx="0" cy="0"/>
        </a:xfrm>
      </p:grpSpPr>
      <p:sp>
        <p:nvSpPr>
          <p:cNvPr id="269" name="Google Shape;269;p31"/>
          <p:cNvSpPr/>
          <p:nvPr/>
        </p:nvSpPr>
        <p:spPr>
          <a:xfrm>
            <a:off x="0" y="0"/>
            <a:ext cx="118872"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31"/>
          <p:cNvSpPr txBox="1"/>
          <p:nvPr/>
        </p:nvSpPr>
        <p:spPr>
          <a:xfrm>
            <a:off x="502920" y="228600"/>
            <a:ext cx="10881360" cy="2194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271" name="Google Shape;271;p31"/>
          <p:cNvSpPr txBox="1"/>
          <p:nvPr/>
        </p:nvSpPr>
        <p:spPr>
          <a:xfrm>
            <a:off x="502920" y="612648"/>
            <a:ext cx="10972800" cy="464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2539"/>
                </a:solidFill>
                <a:latin typeface="Arial"/>
                <a:ea typeface="Arial"/>
                <a:cs typeface="Arial"/>
                <a:sym typeface="Arial"/>
              </a:rPr>
              <a:t>Pareto Frontier: macro-F1 vs. FLOPs</a:t>
            </a:r>
            <a:endParaRPr b="0" i="0" sz="1400" u="none" cap="none" strike="noStrike">
              <a:solidFill>
                <a:srgbClr val="000000"/>
              </a:solidFill>
              <a:latin typeface="Arial"/>
              <a:ea typeface="Arial"/>
              <a:cs typeface="Arial"/>
              <a:sym typeface="Arial"/>
            </a:endParaRPr>
          </a:p>
        </p:txBody>
      </p:sp>
      <p:sp>
        <p:nvSpPr>
          <p:cNvPr id="272" name="Google Shape;272;p31"/>
          <p:cNvSpPr/>
          <p:nvPr/>
        </p:nvSpPr>
        <p:spPr>
          <a:xfrm>
            <a:off x="502920" y="6473952"/>
            <a:ext cx="11201400" cy="15544"/>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31"/>
          <p:cNvSpPr txBox="1"/>
          <p:nvPr/>
        </p:nvSpPr>
        <p:spPr>
          <a:xfrm>
            <a:off x="11064240" y="6510528"/>
            <a:ext cx="612648" cy="164592"/>
          </a:xfrm>
          <a:prstGeom prst="rect">
            <a:avLst/>
          </a:prstGeom>
          <a:noFill/>
          <a:ln>
            <a:noFill/>
          </a:ln>
        </p:spPr>
        <p:txBody>
          <a:bodyPr anchorCtr="0" anchor="t" bIns="9125" lIns="0" spcFirstLastPara="1" rIns="0" wrap="square" tIns="9125">
            <a:sp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606E7D"/>
                </a:solidFill>
                <a:latin typeface="Arial"/>
                <a:ea typeface="Arial"/>
                <a:cs typeface="Arial"/>
                <a:sym typeface="Arial"/>
              </a:rPr>
              <a:t>06 / 11</a:t>
            </a:r>
            <a:endParaRPr b="0" i="0" sz="1400" u="none" cap="none" strike="noStrike">
              <a:solidFill>
                <a:srgbClr val="000000"/>
              </a:solidFill>
              <a:latin typeface="Arial"/>
              <a:ea typeface="Arial"/>
              <a:cs typeface="Arial"/>
              <a:sym typeface="Arial"/>
            </a:endParaRPr>
          </a:p>
        </p:txBody>
      </p:sp>
      <p:sp>
        <p:nvSpPr>
          <p:cNvPr id="274" name="Google Shape;274;p31"/>
          <p:cNvSpPr/>
          <p:nvPr/>
        </p:nvSpPr>
        <p:spPr>
          <a:xfrm>
            <a:off x="502920" y="1280160"/>
            <a:ext cx="6881279" cy="5065776"/>
          </a:xfrm>
          <a:prstGeom prst="roundRect">
            <a:avLst>
              <a:gd fmla="val 4641"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31"/>
          <p:cNvSpPr/>
          <p:nvPr/>
        </p:nvSpPr>
        <p:spPr>
          <a:xfrm>
            <a:off x="7585367" y="1280160"/>
            <a:ext cx="4103408" cy="5065776"/>
          </a:xfrm>
          <a:prstGeom prst="roundRect">
            <a:avLst>
              <a:gd fmla="val 4902"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31"/>
          <p:cNvSpPr txBox="1"/>
          <p:nvPr/>
        </p:nvSpPr>
        <p:spPr>
          <a:xfrm>
            <a:off x="7786535" y="1621790"/>
            <a:ext cx="3701100" cy="3351900"/>
          </a:xfrm>
          <a:prstGeom prst="rect">
            <a:avLst/>
          </a:prstGeom>
          <a:noFill/>
          <a:ln>
            <a:noFill/>
          </a:ln>
        </p:spPr>
        <p:txBody>
          <a:bodyPr anchorCtr="0" anchor="t" bIns="9125" lIns="0" spcFirstLastPara="1" rIns="0" wrap="square" tIns="9125">
            <a:spAutoFit/>
          </a:bodyPr>
          <a:lstStyle/>
          <a:p>
            <a:pPr indent="0" lvl="0" marL="0" rtl="0" algn="l">
              <a:lnSpc>
                <a:spcPct val="115000"/>
              </a:lnSpc>
              <a:spcBef>
                <a:spcPts val="0"/>
              </a:spcBef>
              <a:spcAft>
                <a:spcPts val="0"/>
              </a:spcAft>
              <a:buClr>
                <a:schemeClr val="dk1"/>
              </a:buClr>
              <a:buSzPts val="1100"/>
              <a:buFont typeface="Arial"/>
              <a:buNone/>
            </a:pPr>
            <a:r>
              <a:rPr b="1" lang="en-US" sz="1550">
                <a:solidFill>
                  <a:srgbClr val="0E8D88"/>
                </a:solidFill>
              </a:rPr>
              <a:t>Result</a:t>
            </a:r>
            <a:endParaRPr b="1" sz="1550">
              <a:solidFill>
                <a:srgbClr val="112539"/>
              </a:solidFill>
            </a:endParaRPr>
          </a:p>
          <a:p>
            <a:pPr indent="0" lvl="0" marL="0" rtl="0" algn="l">
              <a:lnSpc>
                <a:spcPct val="115000"/>
              </a:lnSpc>
              <a:spcBef>
                <a:spcPts val="0"/>
              </a:spcBef>
              <a:spcAft>
                <a:spcPts val="0"/>
              </a:spcAft>
              <a:buClr>
                <a:schemeClr val="dk1"/>
              </a:buClr>
              <a:buSzPts val="1100"/>
              <a:buFont typeface="Arial"/>
              <a:buNone/>
            </a:pPr>
            <a:r>
              <a:rPr b="1" lang="en-US" sz="1550">
                <a:solidFill>
                  <a:srgbClr val="112539"/>
                </a:solidFill>
              </a:rPr>
              <a:t>Frontier above Baseline and MobileNetV2</a:t>
            </a:r>
            <a:endParaRPr b="1" sz="1550">
              <a:solidFill>
                <a:srgbClr val="112539"/>
              </a:solidFill>
            </a:endParaRPr>
          </a:p>
          <a:p>
            <a:pPr indent="0" lvl="0" marL="0" rtl="0" algn="l">
              <a:lnSpc>
                <a:spcPct val="115000"/>
              </a:lnSpc>
              <a:spcBef>
                <a:spcPts val="0"/>
              </a:spcBef>
              <a:spcAft>
                <a:spcPts val="0"/>
              </a:spcAft>
              <a:buClr>
                <a:schemeClr val="dk1"/>
              </a:buClr>
              <a:buSzPts val="1100"/>
              <a:buFont typeface="Arial"/>
              <a:buNone/>
            </a:pPr>
            <a:r>
              <a:t/>
            </a:r>
            <a:endParaRPr b="1" sz="1550">
              <a:solidFill>
                <a:srgbClr val="112539"/>
              </a:solidFill>
            </a:endParaRPr>
          </a:p>
          <a:p>
            <a:pPr indent="0" lvl="0" marL="0" rtl="0" algn="l">
              <a:lnSpc>
                <a:spcPct val="115000"/>
              </a:lnSpc>
              <a:spcBef>
                <a:spcPts val="0"/>
              </a:spcBef>
              <a:spcAft>
                <a:spcPts val="0"/>
              </a:spcAft>
              <a:buClr>
                <a:schemeClr val="dk1"/>
              </a:buClr>
              <a:buSzPts val="1100"/>
              <a:buFont typeface="Arial"/>
              <a:buNone/>
            </a:pPr>
            <a:r>
              <a:rPr b="1" lang="en-US" sz="1550">
                <a:solidFill>
                  <a:srgbClr val="112539"/>
                </a:solidFill>
              </a:rPr>
              <a:t>Orange:</a:t>
            </a:r>
            <a:r>
              <a:rPr lang="en-US" sz="1550">
                <a:solidFill>
                  <a:srgbClr val="112539"/>
                </a:solidFill>
              </a:rPr>
              <a:t> baseline score, ⅓ of the compute</a:t>
            </a:r>
            <a:endParaRPr sz="1550">
              <a:solidFill>
                <a:srgbClr val="112539"/>
              </a:solidFill>
            </a:endParaRPr>
          </a:p>
          <a:p>
            <a:pPr indent="0" lvl="0" marL="0" rtl="0" algn="l">
              <a:lnSpc>
                <a:spcPct val="115000"/>
              </a:lnSpc>
              <a:spcBef>
                <a:spcPts val="0"/>
              </a:spcBef>
              <a:spcAft>
                <a:spcPts val="0"/>
              </a:spcAft>
              <a:buClr>
                <a:schemeClr val="dk1"/>
              </a:buClr>
              <a:buSzPts val="1100"/>
              <a:buFont typeface="Arial"/>
              <a:buNone/>
            </a:pPr>
            <a:r>
              <a:t/>
            </a:r>
            <a:endParaRPr sz="1550">
              <a:solidFill>
                <a:srgbClr val="112539"/>
              </a:solidFill>
            </a:endParaRPr>
          </a:p>
          <a:p>
            <a:pPr indent="0" lvl="0" marL="0" rtl="0" algn="l">
              <a:lnSpc>
                <a:spcPct val="115000"/>
              </a:lnSpc>
              <a:spcBef>
                <a:spcPts val="0"/>
              </a:spcBef>
              <a:spcAft>
                <a:spcPts val="0"/>
              </a:spcAft>
              <a:buClr>
                <a:schemeClr val="dk1"/>
              </a:buClr>
              <a:buSzPts val="1100"/>
              <a:buFont typeface="Arial"/>
              <a:buNone/>
            </a:pPr>
            <a:r>
              <a:rPr b="1" lang="en-US" sz="1550">
                <a:solidFill>
                  <a:srgbClr val="112539"/>
                </a:solidFill>
              </a:rPr>
              <a:t>Full width above star: </a:t>
            </a:r>
            <a:r>
              <a:rPr lang="en-US" sz="1550">
                <a:solidFill>
                  <a:srgbClr val="112539"/>
                </a:solidFill>
              </a:rPr>
              <a:t>2 videos, extra training</a:t>
            </a:r>
            <a:endParaRPr sz="1550">
              <a:solidFill>
                <a:srgbClr val="112539"/>
              </a:solidFill>
            </a:endParaRPr>
          </a:p>
          <a:p>
            <a:pPr indent="0" lvl="0" marL="0" rtl="0" algn="l">
              <a:lnSpc>
                <a:spcPct val="115000"/>
              </a:lnSpc>
              <a:spcBef>
                <a:spcPts val="0"/>
              </a:spcBef>
              <a:spcAft>
                <a:spcPts val="0"/>
              </a:spcAft>
              <a:buClr>
                <a:schemeClr val="dk1"/>
              </a:buClr>
              <a:buSzPts val="1100"/>
              <a:buFont typeface="Arial"/>
              <a:buNone/>
            </a:pPr>
            <a:r>
              <a:t/>
            </a:r>
            <a:endParaRPr sz="1550">
              <a:solidFill>
                <a:srgbClr val="112539"/>
              </a:solidFill>
            </a:endParaRPr>
          </a:p>
          <a:p>
            <a:pPr indent="0" lvl="0" marL="0" rtl="0" algn="l">
              <a:lnSpc>
                <a:spcPct val="115000"/>
              </a:lnSpc>
              <a:spcBef>
                <a:spcPts val="0"/>
              </a:spcBef>
              <a:spcAft>
                <a:spcPts val="0"/>
              </a:spcAft>
              <a:buClr>
                <a:schemeClr val="dk1"/>
              </a:buClr>
              <a:buSzPts val="1100"/>
              <a:buFont typeface="Arial"/>
              <a:buNone/>
            </a:pPr>
            <a:r>
              <a:rPr b="1" lang="en-US" sz="1550">
                <a:solidFill>
                  <a:srgbClr val="112539"/>
                </a:solidFill>
              </a:rPr>
              <a:t>whole range, from 0.7 to 20.6 GFLOPs</a:t>
            </a:r>
            <a:endParaRPr sz="1550">
              <a:solidFill>
                <a:srgbClr val="112539"/>
              </a:solidFill>
            </a:endParaRPr>
          </a:p>
          <a:p>
            <a:pPr indent="0" lvl="0" marL="0" marR="0" rtl="0" algn="l">
              <a:lnSpc>
                <a:spcPct val="100000"/>
              </a:lnSpc>
              <a:spcBef>
                <a:spcPts val="600"/>
              </a:spcBef>
              <a:spcAft>
                <a:spcPts val="0"/>
              </a:spcAft>
              <a:buClr>
                <a:srgbClr val="000000"/>
              </a:buClr>
              <a:buSzPts val="1550"/>
              <a:buFont typeface="Arial"/>
              <a:buNone/>
            </a:pPr>
            <a:r>
              <a:t/>
            </a:r>
            <a:endParaRPr b="1" sz="1550">
              <a:solidFill>
                <a:srgbClr val="112539"/>
              </a:solidFill>
            </a:endParaRPr>
          </a:p>
        </p:txBody>
      </p:sp>
      <p:sp>
        <p:nvSpPr>
          <p:cNvPr id="277" name="Google Shape;277;p31"/>
          <p:cNvSpPr/>
          <p:nvPr/>
        </p:nvSpPr>
        <p:spPr>
          <a:xfrm>
            <a:off x="7768247" y="1133856"/>
            <a:ext cx="991210" cy="292608"/>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31"/>
          <p:cNvSpPr txBox="1"/>
          <p:nvPr/>
        </p:nvSpPr>
        <p:spPr>
          <a:xfrm>
            <a:off x="7877975" y="1165860"/>
            <a:ext cx="808330"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EVIDENCE</a:t>
            </a:r>
            <a:endParaRPr b="0" i="0" sz="1400" u="none" cap="none" strike="noStrike">
              <a:solidFill>
                <a:srgbClr val="000000"/>
              </a:solidFill>
              <a:latin typeface="Arial"/>
              <a:ea typeface="Arial"/>
              <a:cs typeface="Arial"/>
              <a:sym typeface="Arial"/>
            </a:endParaRPr>
          </a:p>
        </p:txBody>
      </p:sp>
      <p:pic>
        <p:nvPicPr>
          <p:cNvPr id="279" name="Google Shape;279;p31"/>
          <p:cNvPicPr preferRelativeResize="0"/>
          <p:nvPr/>
        </p:nvPicPr>
        <p:blipFill>
          <a:blip r:embed="rId3">
            <a:alphaModFix/>
          </a:blip>
          <a:stretch>
            <a:fillRect/>
          </a:stretch>
        </p:blipFill>
        <p:spPr>
          <a:xfrm>
            <a:off x="662500" y="1780587"/>
            <a:ext cx="6580400" cy="4064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284" name="Shape 284"/>
        <p:cNvGrpSpPr/>
        <p:nvPr/>
      </p:nvGrpSpPr>
      <p:grpSpPr>
        <a:xfrm>
          <a:off x="0" y="0"/>
          <a:ext cx="0" cy="0"/>
          <a:chOff x="0" y="0"/>
          <a:chExt cx="0" cy="0"/>
        </a:xfrm>
      </p:grpSpPr>
      <p:sp>
        <p:nvSpPr>
          <p:cNvPr id="285" name="Google Shape;285;p32"/>
          <p:cNvSpPr/>
          <p:nvPr/>
        </p:nvSpPr>
        <p:spPr>
          <a:xfrm>
            <a:off x="0" y="0"/>
            <a:ext cx="118872"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32"/>
          <p:cNvSpPr txBox="1"/>
          <p:nvPr/>
        </p:nvSpPr>
        <p:spPr>
          <a:xfrm>
            <a:off x="502920" y="228600"/>
            <a:ext cx="10881360" cy="2194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287" name="Google Shape;287;p32"/>
          <p:cNvSpPr txBox="1"/>
          <p:nvPr/>
        </p:nvSpPr>
        <p:spPr>
          <a:xfrm>
            <a:off x="502920" y="612648"/>
            <a:ext cx="10972800" cy="464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900"/>
              <a:buFont typeface="Arial"/>
              <a:buNone/>
            </a:pPr>
            <a:r>
              <a:rPr b="1" lang="en-US" sz="2900">
                <a:solidFill>
                  <a:srgbClr val="112539"/>
                </a:solidFill>
              </a:rPr>
              <a:t>Controller Policy</a:t>
            </a:r>
            <a:endParaRPr b="0" i="0" sz="1400" u="none" cap="none" strike="noStrike">
              <a:solidFill>
                <a:srgbClr val="000000"/>
              </a:solidFill>
              <a:latin typeface="Arial"/>
              <a:ea typeface="Arial"/>
              <a:cs typeface="Arial"/>
              <a:sym typeface="Arial"/>
            </a:endParaRPr>
          </a:p>
        </p:txBody>
      </p:sp>
      <p:sp>
        <p:nvSpPr>
          <p:cNvPr id="288" name="Google Shape;288;p32"/>
          <p:cNvSpPr txBox="1"/>
          <p:nvPr/>
        </p:nvSpPr>
        <p:spPr>
          <a:xfrm>
            <a:off x="521207" y="1161288"/>
            <a:ext cx="10881360" cy="43891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606E7D"/>
                </a:solidFill>
                <a:latin typeface="Arial"/>
                <a:ea typeface="Arial"/>
                <a:cs typeface="Arial"/>
                <a:sym typeface="Arial"/>
              </a:rPr>
              <a:t>External budget b → eligibility screen → deterministic selection or deferral.</a:t>
            </a:r>
            <a:endParaRPr b="0" i="0" sz="1400" u="none" cap="none" strike="noStrike">
              <a:solidFill>
                <a:srgbClr val="000000"/>
              </a:solidFill>
              <a:latin typeface="Arial"/>
              <a:ea typeface="Arial"/>
              <a:cs typeface="Arial"/>
              <a:sym typeface="Arial"/>
            </a:endParaRPr>
          </a:p>
        </p:txBody>
      </p:sp>
      <p:sp>
        <p:nvSpPr>
          <p:cNvPr id="289" name="Google Shape;289;p32"/>
          <p:cNvSpPr/>
          <p:nvPr/>
        </p:nvSpPr>
        <p:spPr>
          <a:xfrm>
            <a:off x="502920" y="6473952"/>
            <a:ext cx="11201400" cy="15544"/>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p32"/>
          <p:cNvSpPr txBox="1"/>
          <p:nvPr/>
        </p:nvSpPr>
        <p:spPr>
          <a:xfrm>
            <a:off x="11064240" y="6510528"/>
            <a:ext cx="612648" cy="1645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07 / 11</a:t>
            </a:r>
            <a:endParaRPr/>
          </a:p>
        </p:txBody>
      </p:sp>
      <p:sp>
        <p:nvSpPr>
          <p:cNvPr id="291" name="Google Shape;291;p32"/>
          <p:cNvSpPr/>
          <p:nvPr/>
        </p:nvSpPr>
        <p:spPr>
          <a:xfrm>
            <a:off x="685800" y="1828800"/>
            <a:ext cx="10744200" cy="722376"/>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2" name="Google Shape;292;p32"/>
          <p:cNvSpPr txBox="1"/>
          <p:nvPr/>
        </p:nvSpPr>
        <p:spPr>
          <a:xfrm>
            <a:off x="914400" y="2020824"/>
            <a:ext cx="10195560" cy="30175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112539"/>
                </a:solidFill>
                <a:latin typeface="Arial"/>
                <a:ea typeface="Arial"/>
                <a:cs typeface="Arial"/>
                <a:sym typeface="Arial"/>
              </a:rPr>
              <a:t>Budget b  →  quality filter  →  exact FLOP cap  →  max abnormal recall  →  lower cost</a:t>
            </a:r>
            <a:endParaRPr b="0" i="0" sz="1400" u="none" cap="none" strike="noStrike">
              <a:solidFill>
                <a:srgbClr val="000000"/>
              </a:solidFill>
              <a:latin typeface="Arial"/>
              <a:ea typeface="Arial"/>
              <a:cs typeface="Arial"/>
              <a:sym typeface="Arial"/>
            </a:endParaRPr>
          </a:p>
        </p:txBody>
      </p:sp>
      <p:sp>
        <p:nvSpPr>
          <p:cNvPr id="293" name="Google Shape;293;p32"/>
          <p:cNvSpPr/>
          <p:nvPr/>
        </p:nvSpPr>
        <p:spPr>
          <a:xfrm>
            <a:off x="713232" y="2953512"/>
            <a:ext cx="1938528" cy="1837943"/>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4" name="Google Shape;294;p32"/>
          <p:cNvSpPr/>
          <p:nvPr/>
        </p:nvSpPr>
        <p:spPr>
          <a:xfrm>
            <a:off x="886968" y="3154680"/>
            <a:ext cx="1554480" cy="292608"/>
          </a:xfrm>
          <a:prstGeom prst="roundRect">
            <a:avLst>
              <a:gd fmla="val 13000" name="adj"/>
            </a:avLst>
          </a:prstGeom>
          <a:solidFill>
            <a:srgbClr val="EFF4F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32"/>
          <p:cNvSpPr txBox="1"/>
          <p:nvPr/>
        </p:nvSpPr>
        <p:spPr>
          <a:xfrm>
            <a:off x="996695" y="3186684"/>
            <a:ext cx="1335024"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2539"/>
                </a:solidFill>
                <a:latin typeface="Arial"/>
                <a:ea typeface="Arial"/>
                <a:cs typeface="Arial"/>
                <a:sym typeface="Arial"/>
              </a:rPr>
              <a:t>B = 0.00</a:t>
            </a:r>
            <a:endParaRPr b="0" i="0" sz="1400" u="none" cap="none" strike="noStrike">
              <a:solidFill>
                <a:srgbClr val="000000"/>
              </a:solidFill>
              <a:latin typeface="Arial"/>
              <a:ea typeface="Arial"/>
              <a:cs typeface="Arial"/>
              <a:sym typeface="Arial"/>
            </a:endParaRPr>
          </a:p>
        </p:txBody>
      </p:sp>
      <p:sp>
        <p:nvSpPr>
          <p:cNvPr id="296" name="Google Shape;296;p32"/>
          <p:cNvSpPr txBox="1"/>
          <p:nvPr/>
        </p:nvSpPr>
        <p:spPr>
          <a:xfrm>
            <a:off x="832104" y="3730752"/>
            <a:ext cx="1700784" cy="402336"/>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DF7D47"/>
                </a:solidFill>
                <a:latin typeface="Arial"/>
                <a:ea typeface="Arial"/>
                <a:cs typeface="Arial"/>
                <a:sym typeface="Arial"/>
              </a:rPr>
              <a:t>DEFER</a:t>
            </a:r>
            <a:endParaRPr b="0" i="0" sz="1400" u="none" cap="none" strike="noStrike">
              <a:solidFill>
                <a:srgbClr val="000000"/>
              </a:solidFill>
              <a:latin typeface="Arial"/>
              <a:ea typeface="Arial"/>
              <a:cs typeface="Arial"/>
              <a:sym typeface="Arial"/>
            </a:endParaRPr>
          </a:p>
        </p:txBody>
      </p:sp>
      <p:sp>
        <p:nvSpPr>
          <p:cNvPr id="297" name="Google Shape;297;p32"/>
          <p:cNvSpPr txBox="1"/>
          <p:nvPr/>
        </p:nvSpPr>
        <p:spPr>
          <a:xfrm>
            <a:off x="832104" y="4288536"/>
            <a:ext cx="1700784" cy="2743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06E7D"/>
                </a:solidFill>
                <a:latin typeface="Arial"/>
                <a:ea typeface="Arial"/>
                <a:cs typeface="Arial"/>
                <a:sym typeface="Arial"/>
              </a:rPr>
              <a:t>0 G</a:t>
            </a:r>
            <a:endParaRPr b="0" i="0" sz="1400" u="none" cap="none" strike="noStrike">
              <a:solidFill>
                <a:srgbClr val="000000"/>
              </a:solidFill>
              <a:latin typeface="Arial"/>
              <a:ea typeface="Arial"/>
              <a:cs typeface="Arial"/>
              <a:sym typeface="Arial"/>
            </a:endParaRPr>
          </a:p>
        </p:txBody>
      </p:sp>
      <p:sp>
        <p:nvSpPr>
          <p:cNvPr id="298" name="Google Shape;298;p32"/>
          <p:cNvSpPr/>
          <p:nvPr/>
        </p:nvSpPr>
        <p:spPr>
          <a:xfrm>
            <a:off x="2898648" y="2953512"/>
            <a:ext cx="1938528" cy="1837943"/>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32"/>
          <p:cNvSpPr/>
          <p:nvPr/>
        </p:nvSpPr>
        <p:spPr>
          <a:xfrm>
            <a:off x="3072384" y="3154680"/>
            <a:ext cx="1554480" cy="292608"/>
          </a:xfrm>
          <a:prstGeom prst="roundRect">
            <a:avLst>
              <a:gd fmla="val 13000" name="adj"/>
            </a:avLst>
          </a:prstGeom>
          <a:solidFill>
            <a:srgbClr val="EFF4F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32"/>
          <p:cNvSpPr txBox="1"/>
          <p:nvPr/>
        </p:nvSpPr>
        <p:spPr>
          <a:xfrm>
            <a:off x="3182112" y="3186684"/>
            <a:ext cx="1335024"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2539"/>
                </a:solidFill>
                <a:latin typeface="Arial"/>
                <a:ea typeface="Arial"/>
                <a:cs typeface="Arial"/>
                <a:sym typeface="Arial"/>
              </a:rPr>
              <a:t>B = 0.25</a:t>
            </a:r>
            <a:endParaRPr b="0" i="0" sz="1400" u="none" cap="none" strike="noStrike">
              <a:solidFill>
                <a:srgbClr val="000000"/>
              </a:solidFill>
              <a:latin typeface="Arial"/>
              <a:ea typeface="Arial"/>
              <a:cs typeface="Arial"/>
              <a:sym typeface="Arial"/>
            </a:endParaRPr>
          </a:p>
        </p:txBody>
      </p:sp>
      <p:sp>
        <p:nvSpPr>
          <p:cNvPr id="301" name="Google Shape;301;p32"/>
          <p:cNvSpPr txBox="1"/>
          <p:nvPr/>
        </p:nvSpPr>
        <p:spPr>
          <a:xfrm>
            <a:off x="3017520" y="3730752"/>
            <a:ext cx="1700784" cy="402336"/>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E8D88"/>
                </a:solidFill>
                <a:latin typeface="Arial"/>
                <a:ea typeface="Arial"/>
                <a:cs typeface="Arial"/>
                <a:sym typeface="Arial"/>
              </a:rPr>
              <a:t>w0.5 · K2</a:t>
            </a:r>
            <a:endParaRPr b="0" i="0" sz="1400" u="none" cap="none" strike="noStrike">
              <a:solidFill>
                <a:srgbClr val="000000"/>
              </a:solidFill>
              <a:latin typeface="Arial"/>
              <a:ea typeface="Arial"/>
              <a:cs typeface="Arial"/>
              <a:sym typeface="Arial"/>
            </a:endParaRPr>
          </a:p>
        </p:txBody>
      </p:sp>
      <p:sp>
        <p:nvSpPr>
          <p:cNvPr id="302" name="Google Shape;302;p32"/>
          <p:cNvSpPr txBox="1"/>
          <p:nvPr/>
        </p:nvSpPr>
        <p:spPr>
          <a:xfrm>
            <a:off x="3017520" y="4288536"/>
            <a:ext cx="1700784" cy="2743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06E7D"/>
                </a:solidFill>
                <a:latin typeface="Arial"/>
                <a:ea typeface="Arial"/>
                <a:cs typeface="Arial"/>
                <a:sym typeface="Arial"/>
              </a:rPr>
              <a:t>1.82 G</a:t>
            </a:r>
            <a:endParaRPr b="0" i="0" sz="1400" u="none" cap="none" strike="noStrike">
              <a:solidFill>
                <a:srgbClr val="000000"/>
              </a:solidFill>
              <a:latin typeface="Arial"/>
              <a:ea typeface="Arial"/>
              <a:cs typeface="Arial"/>
              <a:sym typeface="Arial"/>
            </a:endParaRPr>
          </a:p>
        </p:txBody>
      </p:sp>
      <p:sp>
        <p:nvSpPr>
          <p:cNvPr id="303" name="Google Shape;303;p32"/>
          <p:cNvSpPr/>
          <p:nvPr/>
        </p:nvSpPr>
        <p:spPr>
          <a:xfrm>
            <a:off x="5084064" y="2953512"/>
            <a:ext cx="1938528" cy="1837943"/>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32"/>
          <p:cNvSpPr/>
          <p:nvPr/>
        </p:nvSpPr>
        <p:spPr>
          <a:xfrm>
            <a:off x="5257800" y="3154680"/>
            <a:ext cx="1554480" cy="292608"/>
          </a:xfrm>
          <a:prstGeom prst="roundRect">
            <a:avLst>
              <a:gd fmla="val 13000" name="adj"/>
            </a:avLst>
          </a:prstGeom>
          <a:solidFill>
            <a:srgbClr val="EFF4F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32"/>
          <p:cNvSpPr txBox="1"/>
          <p:nvPr/>
        </p:nvSpPr>
        <p:spPr>
          <a:xfrm>
            <a:off x="5367528" y="3186684"/>
            <a:ext cx="1335024"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2539"/>
                </a:solidFill>
                <a:latin typeface="Arial"/>
                <a:ea typeface="Arial"/>
                <a:cs typeface="Arial"/>
                <a:sym typeface="Arial"/>
              </a:rPr>
              <a:t>B = 0.50</a:t>
            </a:r>
            <a:endParaRPr b="0" i="0" sz="1400" u="none" cap="none" strike="noStrike">
              <a:solidFill>
                <a:srgbClr val="000000"/>
              </a:solidFill>
              <a:latin typeface="Arial"/>
              <a:ea typeface="Arial"/>
              <a:cs typeface="Arial"/>
              <a:sym typeface="Arial"/>
            </a:endParaRPr>
          </a:p>
        </p:txBody>
      </p:sp>
      <p:sp>
        <p:nvSpPr>
          <p:cNvPr id="306" name="Google Shape;306;p32"/>
          <p:cNvSpPr txBox="1"/>
          <p:nvPr/>
        </p:nvSpPr>
        <p:spPr>
          <a:xfrm>
            <a:off x="5202936" y="3730752"/>
            <a:ext cx="1700784" cy="402336"/>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E8D88"/>
                </a:solidFill>
                <a:latin typeface="Arial"/>
                <a:ea typeface="Arial"/>
                <a:cs typeface="Arial"/>
                <a:sym typeface="Arial"/>
              </a:rPr>
              <a:t>w1.0 · K8</a:t>
            </a:r>
            <a:endParaRPr b="0" i="0" sz="1400" u="none" cap="none" strike="noStrike">
              <a:solidFill>
                <a:srgbClr val="000000"/>
              </a:solidFill>
              <a:latin typeface="Arial"/>
              <a:ea typeface="Arial"/>
              <a:cs typeface="Arial"/>
              <a:sym typeface="Arial"/>
            </a:endParaRPr>
          </a:p>
        </p:txBody>
      </p:sp>
      <p:sp>
        <p:nvSpPr>
          <p:cNvPr id="307" name="Google Shape;307;p32"/>
          <p:cNvSpPr txBox="1"/>
          <p:nvPr/>
        </p:nvSpPr>
        <p:spPr>
          <a:xfrm>
            <a:off x="5202936" y="4288536"/>
            <a:ext cx="1700784" cy="2743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06E7D"/>
                </a:solidFill>
                <a:latin typeface="Arial"/>
                <a:ea typeface="Arial"/>
                <a:cs typeface="Arial"/>
                <a:sym typeface="Arial"/>
              </a:rPr>
              <a:t>10.30 G</a:t>
            </a:r>
            <a:endParaRPr b="0" i="0" sz="1400" u="none" cap="none" strike="noStrike">
              <a:solidFill>
                <a:srgbClr val="000000"/>
              </a:solidFill>
              <a:latin typeface="Arial"/>
              <a:ea typeface="Arial"/>
              <a:cs typeface="Arial"/>
              <a:sym typeface="Arial"/>
            </a:endParaRPr>
          </a:p>
        </p:txBody>
      </p:sp>
      <p:sp>
        <p:nvSpPr>
          <p:cNvPr id="308" name="Google Shape;308;p32"/>
          <p:cNvSpPr/>
          <p:nvPr/>
        </p:nvSpPr>
        <p:spPr>
          <a:xfrm>
            <a:off x="7269480" y="2953512"/>
            <a:ext cx="1938528" cy="1837943"/>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32"/>
          <p:cNvSpPr/>
          <p:nvPr/>
        </p:nvSpPr>
        <p:spPr>
          <a:xfrm>
            <a:off x="7443216" y="3154680"/>
            <a:ext cx="1554480" cy="292608"/>
          </a:xfrm>
          <a:prstGeom prst="roundRect">
            <a:avLst>
              <a:gd fmla="val 13000" name="adj"/>
            </a:avLst>
          </a:prstGeom>
          <a:solidFill>
            <a:srgbClr val="EFF4F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32"/>
          <p:cNvSpPr txBox="1"/>
          <p:nvPr/>
        </p:nvSpPr>
        <p:spPr>
          <a:xfrm>
            <a:off x="7552944" y="3186684"/>
            <a:ext cx="1335024"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2539"/>
                </a:solidFill>
                <a:latin typeface="Arial"/>
                <a:ea typeface="Arial"/>
                <a:cs typeface="Arial"/>
                <a:sym typeface="Arial"/>
              </a:rPr>
              <a:t>B = 0.75</a:t>
            </a:r>
            <a:endParaRPr b="0" i="0" sz="1400" u="none" cap="none" strike="noStrike">
              <a:solidFill>
                <a:srgbClr val="000000"/>
              </a:solidFill>
              <a:latin typeface="Arial"/>
              <a:ea typeface="Arial"/>
              <a:cs typeface="Arial"/>
              <a:sym typeface="Arial"/>
            </a:endParaRPr>
          </a:p>
        </p:txBody>
      </p:sp>
      <p:sp>
        <p:nvSpPr>
          <p:cNvPr id="311" name="Google Shape;311;p32"/>
          <p:cNvSpPr txBox="1"/>
          <p:nvPr/>
        </p:nvSpPr>
        <p:spPr>
          <a:xfrm>
            <a:off x="7388352" y="3730752"/>
            <a:ext cx="1700784" cy="402336"/>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E8D88"/>
                </a:solidFill>
                <a:latin typeface="Arial"/>
                <a:ea typeface="Arial"/>
                <a:cs typeface="Arial"/>
                <a:sym typeface="Arial"/>
              </a:rPr>
              <a:t>w1.0 · K12</a:t>
            </a:r>
            <a:endParaRPr b="0" i="0" sz="1400" u="none" cap="none" strike="noStrike">
              <a:solidFill>
                <a:srgbClr val="000000"/>
              </a:solidFill>
              <a:latin typeface="Arial"/>
              <a:ea typeface="Arial"/>
              <a:cs typeface="Arial"/>
              <a:sym typeface="Arial"/>
            </a:endParaRPr>
          </a:p>
        </p:txBody>
      </p:sp>
      <p:sp>
        <p:nvSpPr>
          <p:cNvPr id="312" name="Google Shape;312;p32"/>
          <p:cNvSpPr txBox="1"/>
          <p:nvPr/>
        </p:nvSpPr>
        <p:spPr>
          <a:xfrm>
            <a:off x="7388352" y="4288536"/>
            <a:ext cx="1700784" cy="2743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06E7D"/>
                </a:solidFill>
                <a:latin typeface="Arial"/>
                <a:ea typeface="Arial"/>
                <a:cs typeface="Arial"/>
                <a:sym typeface="Arial"/>
              </a:rPr>
              <a:t>15.45 G</a:t>
            </a:r>
            <a:endParaRPr b="0" i="0" sz="1400" u="none" cap="none" strike="noStrike">
              <a:solidFill>
                <a:srgbClr val="000000"/>
              </a:solidFill>
              <a:latin typeface="Arial"/>
              <a:ea typeface="Arial"/>
              <a:cs typeface="Arial"/>
              <a:sym typeface="Arial"/>
            </a:endParaRPr>
          </a:p>
        </p:txBody>
      </p:sp>
      <p:sp>
        <p:nvSpPr>
          <p:cNvPr id="313" name="Google Shape;313;p32"/>
          <p:cNvSpPr/>
          <p:nvPr/>
        </p:nvSpPr>
        <p:spPr>
          <a:xfrm>
            <a:off x="9454896" y="2953512"/>
            <a:ext cx="1938528" cy="1837943"/>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32"/>
          <p:cNvSpPr/>
          <p:nvPr/>
        </p:nvSpPr>
        <p:spPr>
          <a:xfrm>
            <a:off x="9628632" y="3154680"/>
            <a:ext cx="1554480" cy="292608"/>
          </a:xfrm>
          <a:prstGeom prst="roundRect">
            <a:avLst>
              <a:gd fmla="val 13000" name="adj"/>
            </a:avLst>
          </a:prstGeom>
          <a:solidFill>
            <a:srgbClr val="EFF4F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5" name="Google Shape;315;p32"/>
          <p:cNvSpPr txBox="1"/>
          <p:nvPr/>
        </p:nvSpPr>
        <p:spPr>
          <a:xfrm>
            <a:off x="9738359" y="3186684"/>
            <a:ext cx="1335024" cy="2011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2539"/>
                </a:solidFill>
                <a:latin typeface="Arial"/>
                <a:ea typeface="Arial"/>
                <a:cs typeface="Arial"/>
                <a:sym typeface="Arial"/>
              </a:rPr>
              <a:t>B = 1.00</a:t>
            </a:r>
            <a:endParaRPr b="0" i="0" sz="1400" u="none" cap="none" strike="noStrike">
              <a:solidFill>
                <a:srgbClr val="000000"/>
              </a:solidFill>
              <a:latin typeface="Arial"/>
              <a:ea typeface="Arial"/>
              <a:cs typeface="Arial"/>
              <a:sym typeface="Arial"/>
            </a:endParaRPr>
          </a:p>
        </p:txBody>
      </p:sp>
      <p:sp>
        <p:nvSpPr>
          <p:cNvPr id="316" name="Google Shape;316;p32"/>
          <p:cNvSpPr txBox="1"/>
          <p:nvPr/>
        </p:nvSpPr>
        <p:spPr>
          <a:xfrm>
            <a:off x="9573768" y="3730752"/>
            <a:ext cx="1700784" cy="402336"/>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E8D88"/>
                </a:solidFill>
                <a:latin typeface="Arial"/>
                <a:ea typeface="Arial"/>
                <a:cs typeface="Arial"/>
                <a:sym typeface="Arial"/>
              </a:rPr>
              <a:t>w1.0 · K16</a:t>
            </a:r>
            <a:endParaRPr b="0" i="0" sz="1400" u="none" cap="none" strike="noStrike">
              <a:solidFill>
                <a:srgbClr val="000000"/>
              </a:solidFill>
              <a:latin typeface="Arial"/>
              <a:ea typeface="Arial"/>
              <a:cs typeface="Arial"/>
              <a:sym typeface="Arial"/>
            </a:endParaRPr>
          </a:p>
        </p:txBody>
      </p:sp>
      <p:sp>
        <p:nvSpPr>
          <p:cNvPr id="317" name="Google Shape;317;p32"/>
          <p:cNvSpPr txBox="1"/>
          <p:nvPr/>
        </p:nvSpPr>
        <p:spPr>
          <a:xfrm>
            <a:off x="9573768" y="4288536"/>
            <a:ext cx="1700784" cy="2743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606E7D"/>
                </a:solidFill>
                <a:latin typeface="Arial"/>
                <a:ea typeface="Arial"/>
                <a:cs typeface="Arial"/>
                <a:sym typeface="Arial"/>
              </a:rPr>
              <a:t>20.60 G</a:t>
            </a:r>
            <a:endParaRPr b="0" i="0" sz="1400" u="none" cap="none" strike="noStrike">
              <a:solidFill>
                <a:srgbClr val="000000"/>
              </a:solidFill>
              <a:latin typeface="Arial"/>
              <a:ea typeface="Arial"/>
              <a:cs typeface="Arial"/>
              <a:sym typeface="Arial"/>
            </a:endParaRPr>
          </a:p>
        </p:txBody>
      </p:sp>
      <p:sp>
        <p:nvSpPr>
          <p:cNvPr id="318" name="Google Shape;318;p32"/>
          <p:cNvSpPr/>
          <p:nvPr/>
        </p:nvSpPr>
        <p:spPr>
          <a:xfrm>
            <a:off x="758952" y="5349240"/>
            <a:ext cx="10579608" cy="731520"/>
          </a:xfrm>
          <a:prstGeom prst="roundRect">
            <a:avLst>
              <a:gd fmla="val 13000" name="adj"/>
            </a:avLst>
          </a:prstGeom>
          <a:solidFill>
            <a:srgbClr val="FFF5E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p32"/>
          <p:cNvSpPr txBox="1"/>
          <p:nvPr/>
        </p:nvSpPr>
        <p:spPr>
          <a:xfrm>
            <a:off x="969264" y="5559552"/>
            <a:ext cx="10222992" cy="338328"/>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12539"/>
                </a:solidFill>
                <a:latin typeface="Arial"/>
                <a:ea typeface="Arial"/>
                <a:cs typeface="Arial"/>
                <a:sym typeface="Arial"/>
              </a:rPr>
              <a:t>A simulated FLOP budget, not a measured battery, latency, or thermal constraint.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24" name="Shape 324"/>
        <p:cNvGrpSpPr/>
        <p:nvPr/>
      </p:nvGrpSpPr>
      <p:grpSpPr>
        <a:xfrm>
          <a:off x="0" y="0"/>
          <a:ext cx="0" cy="0"/>
          <a:chOff x="0" y="0"/>
          <a:chExt cx="0" cy="0"/>
        </a:xfrm>
      </p:grpSpPr>
      <p:sp>
        <p:nvSpPr>
          <p:cNvPr id="325" name="Google Shape;325;p33"/>
          <p:cNvSpPr/>
          <p:nvPr/>
        </p:nvSpPr>
        <p:spPr>
          <a:xfrm>
            <a:off x="0" y="0"/>
            <a:ext cx="118800"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33"/>
          <p:cNvSpPr txBox="1"/>
          <p:nvPr/>
        </p:nvSpPr>
        <p:spPr>
          <a:xfrm>
            <a:off x="502920" y="228600"/>
            <a:ext cx="10881300" cy="187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327" name="Google Shape;327;p33"/>
          <p:cNvSpPr txBox="1"/>
          <p:nvPr/>
        </p:nvSpPr>
        <p:spPr>
          <a:xfrm>
            <a:off x="502920" y="612648"/>
            <a:ext cx="10972800" cy="434100"/>
          </a:xfrm>
          <a:prstGeom prst="rect">
            <a:avLst/>
          </a:prstGeom>
          <a:solidFill>
            <a:srgbClr val="000000">
              <a:alpha val="0"/>
            </a:srgbClr>
          </a:solidFill>
          <a:ln>
            <a:noFill/>
          </a:ln>
        </p:spPr>
        <p:txBody>
          <a:bodyPr anchorCtr="0" anchor="t" bIns="9100" lIns="0" spcFirstLastPara="1" rIns="0" wrap="square" tIns="9100">
            <a:spAutoFit/>
          </a:bodyPr>
          <a:lstStyle/>
          <a:p>
            <a:pPr indent="0" lvl="0" marL="0" marR="0" rtl="0" algn="l">
              <a:lnSpc>
                <a:spcPct val="100000"/>
              </a:lnSpc>
              <a:spcBef>
                <a:spcPts val="0"/>
              </a:spcBef>
              <a:spcAft>
                <a:spcPts val="0"/>
              </a:spcAft>
              <a:buNone/>
            </a:pPr>
            <a:r>
              <a:rPr b="1" lang="en-US" sz="2700">
                <a:solidFill>
                  <a:srgbClr val="10273E"/>
                </a:solidFill>
              </a:rPr>
              <a:t>Test Set Results</a:t>
            </a:r>
            <a:endParaRPr/>
          </a:p>
        </p:txBody>
      </p:sp>
      <p:sp>
        <p:nvSpPr>
          <p:cNvPr id="328" name="Google Shape;328;p33"/>
          <p:cNvSpPr txBox="1"/>
          <p:nvPr/>
        </p:nvSpPr>
        <p:spPr>
          <a:xfrm>
            <a:off x="548675" y="1148925"/>
            <a:ext cx="9748500" cy="218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300" u="none" cap="none" strike="noStrike">
                <a:solidFill>
                  <a:srgbClr val="657589"/>
                </a:solidFill>
                <a:latin typeface="Arial"/>
                <a:ea typeface="Arial"/>
                <a:cs typeface="Arial"/>
                <a:sym typeface="Arial"/>
              </a:rPr>
              <a:t>265 unseen test units · all shown positive-budget points have 100% coverage</a:t>
            </a:r>
            <a:endParaRPr/>
          </a:p>
        </p:txBody>
      </p:sp>
      <p:sp>
        <p:nvSpPr>
          <p:cNvPr id="329" name="Google Shape;329;p33"/>
          <p:cNvSpPr/>
          <p:nvPr/>
        </p:nvSpPr>
        <p:spPr>
          <a:xfrm>
            <a:off x="502920" y="6473952"/>
            <a:ext cx="11201400" cy="15600"/>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p33"/>
          <p:cNvSpPr txBox="1"/>
          <p:nvPr/>
        </p:nvSpPr>
        <p:spPr>
          <a:xfrm>
            <a:off x="11064240" y="6510528"/>
            <a:ext cx="612600" cy="1569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08 / 11</a:t>
            </a:r>
            <a:endParaRPr/>
          </a:p>
        </p:txBody>
      </p:sp>
      <p:sp>
        <p:nvSpPr>
          <p:cNvPr id="331" name="Google Shape;331;p33"/>
          <p:cNvSpPr/>
          <p:nvPr/>
        </p:nvSpPr>
        <p:spPr>
          <a:xfrm>
            <a:off x="640080" y="1810512"/>
            <a:ext cx="7589520" cy="4251960"/>
          </a:xfrm>
          <a:prstGeom prst="roundRect">
            <a:avLst>
              <a:gd fmla="val 16667" name="adj"/>
            </a:avLst>
          </a:prstGeom>
          <a:solidFill>
            <a:srgbClr val="FFFFFF"/>
          </a:solidFill>
          <a:ln cap="flat" cmpd="sng" w="9525">
            <a:solidFill>
              <a:srgbClr val="DBE5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v4_quality.png" id="332" name="Google Shape;332;p33"/>
          <p:cNvPicPr preferRelativeResize="0"/>
          <p:nvPr/>
        </p:nvPicPr>
        <p:blipFill rotWithShape="1">
          <a:blip r:embed="rId3">
            <a:alphaModFix/>
          </a:blip>
          <a:srcRect b="0" l="0" r="0" t="0"/>
          <a:stretch/>
        </p:blipFill>
        <p:spPr>
          <a:xfrm>
            <a:off x="921425" y="1993388"/>
            <a:ext cx="7026837" cy="3886199"/>
          </a:xfrm>
          <a:prstGeom prst="rect">
            <a:avLst/>
          </a:prstGeom>
          <a:noFill/>
          <a:ln>
            <a:noFill/>
          </a:ln>
        </p:spPr>
      </p:pic>
      <p:sp>
        <p:nvSpPr>
          <p:cNvPr id="333" name="Google Shape;333;p33"/>
          <p:cNvSpPr/>
          <p:nvPr/>
        </p:nvSpPr>
        <p:spPr>
          <a:xfrm>
            <a:off x="8412480" y="1810512"/>
            <a:ext cx="3127248" cy="4251960"/>
          </a:xfrm>
          <a:prstGeom prst="roundRect">
            <a:avLst>
              <a:gd fmla="val 16667" name="adj"/>
            </a:avLst>
          </a:prstGeom>
          <a:solidFill>
            <a:srgbClr val="F1F8F8"/>
          </a:solidFill>
          <a:ln cap="flat" cmpd="sng" w="9525">
            <a:solidFill>
              <a:srgbClr val="D8E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33"/>
          <p:cNvSpPr txBox="1"/>
          <p:nvPr/>
        </p:nvSpPr>
        <p:spPr>
          <a:xfrm>
            <a:off x="8668512" y="1993392"/>
            <a:ext cx="2468880" cy="27432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087E85"/>
                </a:solidFill>
                <a:latin typeface="Arial"/>
                <a:ea typeface="Arial"/>
                <a:cs typeface="Arial"/>
                <a:sym typeface="Arial"/>
              </a:rPr>
              <a:t>ONE CHECKPOINT</a:t>
            </a:r>
            <a:endParaRPr/>
          </a:p>
        </p:txBody>
      </p:sp>
      <p:sp>
        <p:nvSpPr>
          <p:cNvPr id="335" name="Google Shape;335;p33"/>
          <p:cNvSpPr txBox="1"/>
          <p:nvPr/>
        </p:nvSpPr>
        <p:spPr>
          <a:xfrm>
            <a:off x="8650224" y="2414016"/>
            <a:ext cx="2606040" cy="43891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2900" u="none" cap="none" strike="noStrike">
                <a:solidFill>
                  <a:srgbClr val="10273E"/>
                </a:solidFill>
                <a:latin typeface="Arial"/>
                <a:ea typeface="Arial"/>
                <a:cs typeface="Arial"/>
                <a:sym typeface="Arial"/>
              </a:rPr>
              <a:t>91% less</a:t>
            </a:r>
            <a:endParaRPr/>
          </a:p>
        </p:txBody>
      </p:sp>
      <p:sp>
        <p:nvSpPr>
          <p:cNvPr id="336" name="Google Shape;336;p33"/>
          <p:cNvSpPr txBox="1"/>
          <p:nvPr/>
        </p:nvSpPr>
        <p:spPr>
          <a:xfrm>
            <a:off x="8641080" y="2898648"/>
            <a:ext cx="2606040" cy="70408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300" u="none" cap="none" strike="noStrike">
                <a:solidFill>
                  <a:srgbClr val="10273E"/>
                </a:solidFill>
                <a:latin typeface="Arial"/>
                <a:ea typeface="Arial"/>
                <a:cs typeface="Arial"/>
                <a:sym typeface="Arial"/>
              </a:rPr>
              <a:t>modeled FLOPs at b=25%</a:t>
            </a:r>
            <a:br>
              <a:rPr b="0" i="0" lang="en-US" sz="1400" u="none" cap="none" strike="noStrike">
                <a:solidFill>
                  <a:srgbClr val="000000"/>
                </a:solidFill>
                <a:latin typeface="Arial"/>
                <a:ea typeface="Arial"/>
                <a:cs typeface="Arial"/>
                <a:sym typeface="Arial"/>
              </a:rPr>
            </a:br>
            <a:r>
              <a:rPr b="0" i="0" lang="en-US" sz="1300" u="none" cap="none" strike="noStrike">
                <a:solidFill>
                  <a:srgbClr val="10273E"/>
                </a:solidFill>
                <a:latin typeface="Arial"/>
                <a:ea typeface="Arial"/>
                <a:cs typeface="Arial"/>
                <a:sym typeface="Arial"/>
              </a:rPr>
              <a:t>F1 0.844 vs original 0.880</a:t>
            </a:r>
            <a:endParaRPr/>
          </a:p>
        </p:txBody>
      </p:sp>
      <p:sp>
        <p:nvSpPr>
          <p:cNvPr id="337" name="Google Shape;337;p33"/>
          <p:cNvSpPr/>
          <p:nvPr/>
        </p:nvSpPr>
        <p:spPr>
          <a:xfrm>
            <a:off x="8668512" y="3758184"/>
            <a:ext cx="2587752" cy="16459"/>
          </a:xfrm>
          <a:prstGeom prst="rect">
            <a:avLst/>
          </a:prstGeom>
          <a:solidFill>
            <a:srgbClr val="CADBD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33"/>
          <p:cNvSpPr txBox="1"/>
          <p:nvPr/>
        </p:nvSpPr>
        <p:spPr>
          <a:xfrm>
            <a:off x="8668512" y="3913632"/>
            <a:ext cx="2468880" cy="27432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087E85"/>
                </a:solidFill>
                <a:latin typeface="Arial"/>
                <a:ea typeface="Arial"/>
                <a:cs typeface="Arial"/>
                <a:sym typeface="Arial"/>
              </a:rPr>
              <a:t>AT FULL COMPUTE</a:t>
            </a:r>
            <a:endParaRPr/>
          </a:p>
        </p:txBody>
      </p:sp>
      <p:sp>
        <p:nvSpPr>
          <p:cNvPr id="339" name="Google Shape;339;p33"/>
          <p:cNvSpPr txBox="1"/>
          <p:nvPr/>
        </p:nvSpPr>
        <p:spPr>
          <a:xfrm>
            <a:off x="8650224" y="4288536"/>
            <a:ext cx="2606040" cy="402336"/>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2000" u="none" cap="none" strike="noStrike">
                <a:solidFill>
                  <a:srgbClr val="10273E"/>
                </a:solidFill>
                <a:latin typeface="Arial"/>
                <a:ea typeface="Arial"/>
                <a:cs typeface="Arial"/>
                <a:sym typeface="Arial"/>
              </a:rPr>
              <a:t>0.879 vs 0.880</a:t>
            </a:r>
            <a:endParaRPr/>
          </a:p>
        </p:txBody>
      </p:sp>
      <p:sp>
        <p:nvSpPr>
          <p:cNvPr id="340" name="Google Shape;340;p33"/>
          <p:cNvSpPr txBox="1"/>
          <p:nvPr/>
        </p:nvSpPr>
        <p:spPr>
          <a:xfrm>
            <a:off x="8641080" y="4727448"/>
            <a:ext cx="2670048" cy="950976"/>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57589"/>
                </a:solidFill>
                <a:latin typeface="Arial"/>
                <a:ea typeface="Arial"/>
                <a:cs typeface="Arial"/>
                <a:sym typeface="Arial"/>
              </a:rPr>
              <a:t>Nested vs original TinyViT</a:t>
            </a:r>
            <a:br>
              <a:rPr b="0" i="0" lang="en-US" sz="1400" u="none" cap="none" strike="noStrike">
                <a:solidFill>
                  <a:srgbClr val="000000"/>
                </a:solidFill>
                <a:latin typeface="Arial"/>
                <a:ea typeface="Arial"/>
                <a:cs typeface="Arial"/>
                <a:sym typeface="Arial"/>
              </a:rPr>
            </a:br>
            <a:r>
              <a:rPr b="0" i="0" lang="en-US" sz="1200" u="none" cap="none" strike="noStrike">
                <a:solidFill>
                  <a:srgbClr val="657589"/>
                </a:solidFill>
                <a:latin typeface="Arial"/>
                <a:ea typeface="Arial"/>
                <a:cs typeface="Arial"/>
                <a:sym typeface="Arial"/>
              </a:rPr>
              <a:t>Same 20.60 GFLOPs; not</a:t>
            </a:r>
            <a:br>
              <a:rPr b="0" i="0" lang="en-US" sz="1400" u="none" cap="none" strike="noStrike">
                <a:solidFill>
                  <a:srgbClr val="000000"/>
                </a:solidFill>
                <a:latin typeface="Arial"/>
                <a:ea typeface="Arial"/>
                <a:cs typeface="Arial"/>
                <a:sym typeface="Arial"/>
              </a:rPr>
            </a:br>
            <a:r>
              <a:rPr b="0" i="0" lang="en-US" sz="1200" u="none" cap="none" strike="noStrike">
                <a:solidFill>
                  <a:srgbClr val="657589"/>
                </a:solidFill>
                <a:latin typeface="Arial"/>
                <a:ea typeface="Arial"/>
                <a:cs typeface="Arial"/>
                <a:sym typeface="Arial"/>
              </a:rPr>
              <a:t>a formal equivalence result.</a:t>
            </a:r>
            <a:endParaRPr/>
          </a:p>
        </p:txBody>
      </p:sp>
      <p:sp>
        <p:nvSpPr>
          <p:cNvPr id="341" name="Google Shape;341;p33"/>
          <p:cNvSpPr txBox="1"/>
          <p:nvPr/>
        </p:nvSpPr>
        <p:spPr>
          <a:xfrm>
            <a:off x="722376" y="6117336"/>
            <a:ext cx="10744200" cy="2286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40" u="none" cap="none" strike="noStrike">
                <a:solidFill>
                  <a:srgbClr val="657589"/>
                </a:solidFill>
                <a:latin typeface="Arial"/>
                <a:ea typeface="Arial"/>
                <a:cs typeface="Arial"/>
                <a:sym typeface="Arial"/>
              </a:rPr>
              <a:t>Original TinyViT K16 is the main architectural baseline; MobileNetV2 is a separate external reference.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45" name="Shape 345"/>
        <p:cNvGrpSpPr/>
        <p:nvPr/>
      </p:nvGrpSpPr>
      <p:grpSpPr>
        <a:xfrm>
          <a:off x="0" y="0"/>
          <a:ext cx="0" cy="0"/>
          <a:chOff x="0" y="0"/>
          <a:chExt cx="0" cy="0"/>
        </a:xfrm>
      </p:grpSpPr>
      <p:sp>
        <p:nvSpPr>
          <p:cNvPr id="346" name="Google Shape;346;p34"/>
          <p:cNvSpPr/>
          <p:nvPr/>
        </p:nvSpPr>
        <p:spPr>
          <a:xfrm>
            <a:off x="0" y="0"/>
            <a:ext cx="118872" cy="6858000"/>
          </a:xfrm>
          <a:prstGeom prst="rect">
            <a:avLst/>
          </a:prstGeom>
          <a:solidFill>
            <a:srgbClr val="087E8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34"/>
          <p:cNvSpPr txBox="1"/>
          <p:nvPr/>
        </p:nvSpPr>
        <p:spPr>
          <a:xfrm>
            <a:off x="502920" y="237744"/>
            <a:ext cx="10789800" cy="2061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087E85"/>
                </a:solidFill>
                <a:latin typeface="Arial"/>
                <a:ea typeface="Arial"/>
                <a:cs typeface="Arial"/>
                <a:sym typeface="Arial"/>
              </a:rPr>
              <a:t>BIG DATA AT THE EDGE  /  ADAPTIVE POCUS</a:t>
            </a:r>
            <a:endParaRPr sz="1500"/>
          </a:p>
        </p:txBody>
      </p:sp>
      <p:sp>
        <p:nvSpPr>
          <p:cNvPr id="348" name="Google Shape;348;p34"/>
          <p:cNvSpPr txBox="1"/>
          <p:nvPr/>
        </p:nvSpPr>
        <p:spPr>
          <a:xfrm>
            <a:off x="502920" y="621792"/>
            <a:ext cx="11201400" cy="4524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lang="en-US" sz="2700">
                <a:solidFill>
                  <a:srgbClr val="10273E"/>
                </a:solidFill>
              </a:rPr>
              <a:t>Mixed Budgets</a:t>
            </a:r>
            <a:endParaRPr/>
          </a:p>
        </p:txBody>
      </p:sp>
      <p:sp>
        <p:nvSpPr>
          <p:cNvPr id="349" name="Google Shape;349;p34"/>
          <p:cNvSpPr txBox="1"/>
          <p:nvPr/>
        </p:nvSpPr>
        <p:spPr>
          <a:xfrm>
            <a:off x="521207" y="1152144"/>
            <a:ext cx="11064240" cy="41148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300" u="none" cap="none" strike="noStrike">
                <a:solidFill>
                  <a:srgbClr val="657589"/>
                </a:solidFill>
                <a:latin typeface="Arial"/>
                <a:ea typeface="Arial"/>
                <a:cs typeface="Arial"/>
                <a:sym typeface="Arial"/>
              </a:rPr>
              <a:t>Each frozen test unit gets one simulated budget state · 53 units per state · 0% always defers</a:t>
            </a:r>
            <a:endParaRPr/>
          </a:p>
        </p:txBody>
      </p:sp>
      <p:sp>
        <p:nvSpPr>
          <p:cNvPr id="350" name="Google Shape;350;p34"/>
          <p:cNvSpPr/>
          <p:nvPr/>
        </p:nvSpPr>
        <p:spPr>
          <a:xfrm>
            <a:off x="502920" y="6483096"/>
            <a:ext cx="11201400" cy="13716"/>
          </a:xfrm>
          <a:prstGeom prst="rect">
            <a:avLst/>
          </a:prstGeom>
          <a:solidFill>
            <a:srgbClr val="C3D0D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34"/>
          <p:cNvSpPr txBox="1"/>
          <p:nvPr/>
        </p:nvSpPr>
        <p:spPr>
          <a:xfrm>
            <a:off x="10972800" y="6519672"/>
            <a:ext cx="676656" cy="210312"/>
          </a:xfrm>
          <a:prstGeom prst="rect">
            <a:avLst/>
          </a:prstGeom>
          <a:noFill/>
          <a:ln>
            <a:noFill/>
          </a:ln>
        </p:spPr>
        <p:txBody>
          <a:bodyPr anchorCtr="0" anchor="t" bIns="18275" lIns="27425" spcFirstLastPara="1" rIns="27425" wrap="square" tIns="18275">
            <a:spAutoFit/>
          </a:bodyPr>
          <a:lstStyle/>
          <a:p>
            <a:pPr indent="0" lvl="0" marL="0" marR="0" rtl="0" algn="r">
              <a:lnSpc>
                <a:spcPct val="100000"/>
              </a:lnSpc>
              <a:spcBef>
                <a:spcPts val="0"/>
              </a:spcBef>
              <a:spcAft>
                <a:spcPts val="0"/>
              </a:spcAft>
              <a:buNone/>
            </a:pPr>
            <a:r>
              <a:rPr b="0" i="0" lang="en-US" sz="900" u="none" cap="none" strike="noStrike">
                <a:solidFill>
                  <a:srgbClr val="657589"/>
                </a:solidFill>
                <a:latin typeface="Arial"/>
                <a:ea typeface="Arial"/>
                <a:cs typeface="Arial"/>
                <a:sym typeface="Arial"/>
              </a:rPr>
              <a:t>09 / 11</a:t>
            </a:r>
            <a:endParaRPr/>
          </a:p>
        </p:txBody>
      </p:sp>
      <p:sp>
        <p:nvSpPr>
          <p:cNvPr id="352" name="Google Shape;352;p34"/>
          <p:cNvSpPr/>
          <p:nvPr/>
        </p:nvSpPr>
        <p:spPr>
          <a:xfrm>
            <a:off x="658368" y="1773936"/>
            <a:ext cx="6876288" cy="4325112"/>
          </a:xfrm>
          <a:prstGeom prst="roundRect">
            <a:avLst>
              <a:gd fmla="val 16667" name="adj"/>
            </a:avLst>
          </a:prstGeom>
          <a:solidFill>
            <a:srgbClr val="FFFFFF"/>
          </a:solidFill>
          <a:ln cap="flat" cmpd="sng" w="9525">
            <a:solidFill>
              <a:srgbClr val="DBE5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34"/>
          <p:cNvSpPr txBox="1"/>
          <p:nvPr/>
        </p:nvSpPr>
        <p:spPr>
          <a:xfrm>
            <a:off x="859536" y="1938528"/>
            <a:ext cx="6400800" cy="34747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630" u="none" cap="none" strike="noStrike">
                <a:solidFill>
                  <a:srgbClr val="10273E"/>
                </a:solidFill>
                <a:latin typeface="Arial"/>
                <a:ea typeface="Arial"/>
                <a:cs typeface="Arial"/>
                <a:sym typeface="Arial"/>
              </a:rPr>
              <a:t>Predictions completed under the same resource schedule</a:t>
            </a:r>
            <a:endParaRPr/>
          </a:p>
        </p:txBody>
      </p:sp>
      <p:sp>
        <p:nvSpPr>
          <p:cNvPr id="354" name="Google Shape;354;p34"/>
          <p:cNvSpPr txBox="1"/>
          <p:nvPr/>
        </p:nvSpPr>
        <p:spPr>
          <a:xfrm>
            <a:off x="859536" y="2523744"/>
            <a:ext cx="2423160" cy="25603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250" u="none" cap="none" strike="noStrike">
                <a:solidFill>
                  <a:srgbClr val="10273E"/>
                </a:solidFill>
                <a:latin typeface="Arial"/>
                <a:ea typeface="Arial"/>
                <a:cs typeface="Arial"/>
                <a:sym typeface="Arial"/>
              </a:rPr>
              <a:t>A · MobileNetV2</a:t>
            </a:r>
            <a:endParaRPr/>
          </a:p>
        </p:txBody>
      </p:sp>
      <p:sp>
        <p:nvSpPr>
          <p:cNvPr id="355" name="Google Shape;355;p34"/>
          <p:cNvSpPr/>
          <p:nvPr/>
        </p:nvSpPr>
        <p:spPr>
          <a:xfrm>
            <a:off x="3447288" y="2560320"/>
            <a:ext cx="3081528" cy="173736"/>
          </a:xfrm>
          <a:prstGeom prst="roundRect">
            <a:avLst>
              <a:gd fmla="val 16667" name="adj"/>
            </a:avLst>
          </a:prstGeom>
          <a:solidFill>
            <a:srgbClr val="EEF2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34"/>
          <p:cNvSpPr/>
          <p:nvPr/>
        </p:nvSpPr>
        <p:spPr>
          <a:xfrm>
            <a:off x="3447288" y="2560320"/>
            <a:ext cx="2465222" cy="173736"/>
          </a:xfrm>
          <a:prstGeom prst="roundRect">
            <a:avLst>
              <a:gd fmla="val 16667" name="adj"/>
            </a:avLst>
          </a:prstGeom>
          <a:solidFill>
            <a:srgbClr val="65758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34"/>
          <p:cNvSpPr txBox="1"/>
          <p:nvPr/>
        </p:nvSpPr>
        <p:spPr>
          <a:xfrm>
            <a:off x="6556248" y="2505456"/>
            <a:ext cx="91440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657589"/>
                </a:solidFill>
                <a:latin typeface="Arial"/>
                <a:ea typeface="Arial"/>
                <a:cs typeface="Arial"/>
                <a:sym typeface="Arial"/>
              </a:rPr>
              <a:t>80%  (212/265)</a:t>
            </a:r>
            <a:endParaRPr/>
          </a:p>
        </p:txBody>
      </p:sp>
      <p:sp>
        <p:nvSpPr>
          <p:cNvPr id="358" name="Google Shape;358;p34"/>
          <p:cNvSpPr txBox="1"/>
          <p:nvPr/>
        </p:nvSpPr>
        <p:spPr>
          <a:xfrm>
            <a:off x="859536" y="3035808"/>
            <a:ext cx="2423160" cy="25603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250" u="none" cap="none" strike="noStrike">
                <a:solidFill>
                  <a:srgbClr val="10273E"/>
                </a:solidFill>
                <a:latin typeface="Arial"/>
                <a:ea typeface="Arial"/>
                <a:cs typeface="Arial"/>
                <a:sym typeface="Arial"/>
              </a:rPr>
              <a:t>B · original TinyViT</a:t>
            </a:r>
            <a:endParaRPr/>
          </a:p>
        </p:txBody>
      </p:sp>
      <p:sp>
        <p:nvSpPr>
          <p:cNvPr id="359" name="Google Shape;359;p34"/>
          <p:cNvSpPr/>
          <p:nvPr/>
        </p:nvSpPr>
        <p:spPr>
          <a:xfrm>
            <a:off x="3447288" y="3072384"/>
            <a:ext cx="3081528" cy="173736"/>
          </a:xfrm>
          <a:prstGeom prst="roundRect">
            <a:avLst>
              <a:gd fmla="val 16667" name="adj"/>
            </a:avLst>
          </a:prstGeom>
          <a:solidFill>
            <a:srgbClr val="EEF2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34"/>
          <p:cNvSpPr/>
          <p:nvPr/>
        </p:nvSpPr>
        <p:spPr>
          <a:xfrm>
            <a:off x="3447288" y="3072384"/>
            <a:ext cx="616305" cy="173736"/>
          </a:xfrm>
          <a:prstGeom prst="roundRect">
            <a:avLst>
              <a:gd fmla="val 16667" name="adj"/>
            </a:avLst>
          </a:prstGeom>
          <a:solidFill>
            <a:srgbClr val="10273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34"/>
          <p:cNvSpPr txBox="1"/>
          <p:nvPr/>
        </p:nvSpPr>
        <p:spPr>
          <a:xfrm>
            <a:off x="6556248" y="3017520"/>
            <a:ext cx="91440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10273E"/>
                </a:solidFill>
                <a:latin typeface="Arial"/>
                <a:ea typeface="Arial"/>
                <a:cs typeface="Arial"/>
                <a:sym typeface="Arial"/>
              </a:rPr>
              <a:t>20%  (53/265)</a:t>
            </a:r>
            <a:endParaRPr/>
          </a:p>
        </p:txBody>
      </p:sp>
      <p:sp>
        <p:nvSpPr>
          <p:cNvPr id="362" name="Google Shape;362;p34"/>
          <p:cNvSpPr txBox="1"/>
          <p:nvPr/>
        </p:nvSpPr>
        <p:spPr>
          <a:xfrm>
            <a:off x="859536" y="3547872"/>
            <a:ext cx="2423160" cy="25603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250" u="none" cap="none" strike="noStrike">
                <a:solidFill>
                  <a:srgbClr val="10273E"/>
                </a:solidFill>
                <a:latin typeface="Arial"/>
                <a:ea typeface="Arial"/>
                <a:cs typeface="Arial"/>
                <a:sym typeface="Arial"/>
              </a:rPr>
              <a:t>C · nested static</a:t>
            </a:r>
            <a:endParaRPr/>
          </a:p>
        </p:txBody>
      </p:sp>
      <p:sp>
        <p:nvSpPr>
          <p:cNvPr id="363" name="Google Shape;363;p34"/>
          <p:cNvSpPr/>
          <p:nvPr/>
        </p:nvSpPr>
        <p:spPr>
          <a:xfrm>
            <a:off x="3447288" y="3584448"/>
            <a:ext cx="3081528" cy="173736"/>
          </a:xfrm>
          <a:prstGeom prst="roundRect">
            <a:avLst>
              <a:gd fmla="val 16667" name="adj"/>
            </a:avLst>
          </a:prstGeom>
          <a:solidFill>
            <a:srgbClr val="EEF2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34"/>
          <p:cNvSpPr/>
          <p:nvPr/>
        </p:nvSpPr>
        <p:spPr>
          <a:xfrm>
            <a:off x="3447288" y="3584448"/>
            <a:ext cx="1848916" cy="173736"/>
          </a:xfrm>
          <a:prstGeom prst="roundRect">
            <a:avLst>
              <a:gd fmla="val 16667" name="adj"/>
            </a:avLst>
          </a:prstGeom>
          <a:solidFill>
            <a:srgbClr val="4E90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34"/>
          <p:cNvSpPr txBox="1"/>
          <p:nvPr/>
        </p:nvSpPr>
        <p:spPr>
          <a:xfrm>
            <a:off x="6556248" y="3529584"/>
            <a:ext cx="91440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4E90A0"/>
                </a:solidFill>
                <a:latin typeface="Arial"/>
                <a:ea typeface="Arial"/>
                <a:cs typeface="Arial"/>
                <a:sym typeface="Arial"/>
              </a:rPr>
              <a:t>60%  (159/265)</a:t>
            </a:r>
            <a:endParaRPr/>
          </a:p>
        </p:txBody>
      </p:sp>
      <p:sp>
        <p:nvSpPr>
          <p:cNvPr id="366" name="Google Shape;366;p34"/>
          <p:cNvSpPr txBox="1"/>
          <p:nvPr/>
        </p:nvSpPr>
        <p:spPr>
          <a:xfrm>
            <a:off x="859536" y="4059936"/>
            <a:ext cx="2423160" cy="25603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250" u="none" cap="none" strike="noStrike">
                <a:solidFill>
                  <a:srgbClr val="10273E"/>
                </a:solidFill>
                <a:latin typeface="Arial"/>
                <a:ea typeface="Arial"/>
                <a:cs typeface="Arial"/>
                <a:sym typeface="Arial"/>
              </a:rPr>
              <a:t>D · min-cost</a:t>
            </a:r>
            <a:endParaRPr/>
          </a:p>
        </p:txBody>
      </p:sp>
      <p:sp>
        <p:nvSpPr>
          <p:cNvPr id="367" name="Google Shape;367;p34"/>
          <p:cNvSpPr/>
          <p:nvPr/>
        </p:nvSpPr>
        <p:spPr>
          <a:xfrm>
            <a:off x="3447288" y="4096512"/>
            <a:ext cx="3081528" cy="173736"/>
          </a:xfrm>
          <a:prstGeom prst="roundRect">
            <a:avLst>
              <a:gd fmla="val 16667" name="adj"/>
            </a:avLst>
          </a:prstGeom>
          <a:solidFill>
            <a:srgbClr val="EEF2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34"/>
          <p:cNvSpPr/>
          <p:nvPr/>
        </p:nvSpPr>
        <p:spPr>
          <a:xfrm>
            <a:off x="3447288" y="4096512"/>
            <a:ext cx="2465222" cy="173736"/>
          </a:xfrm>
          <a:prstGeom prst="roundRect">
            <a:avLst>
              <a:gd fmla="val 16667" name="adj"/>
            </a:avLst>
          </a:prstGeom>
          <a:solidFill>
            <a:srgbClr val="8374A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34"/>
          <p:cNvSpPr txBox="1"/>
          <p:nvPr/>
        </p:nvSpPr>
        <p:spPr>
          <a:xfrm>
            <a:off x="6556248" y="4041648"/>
            <a:ext cx="91440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8374AE"/>
                </a:solidFill>
                <a:latin typeface="Arial"/>
                <a:ea typeface="Arial"/>
                <a:cs typeface="Arial"/>
                <a:sym typeface="Arial"/>
              </a:rPr>
              <a:t>80%  (212/265)</a:t>
            </a:r>
            <a:endParaRPr/>
          </a:p>
        </p:txBody>
      </p:sp>
      <p:sp>
        <p:nvSpPr>
          <p:cNvPr id="370" name="Google Shape;370;p34"/>
          <p:cNvSpPr txBox="1"/>
          <p:nvPr/>
        </p:nvSpPr>
        <p:spPr>
          <a:xfrm>
            <a:off x="859536" y="4572000"/>
            <a:ext cx="2423160" cy="25603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250" u="none" cap="none" strike="noStrike">
                <a:solidFill>
                  <a:srgbClr val="10273E"/>
                </a:solidFill>
                <a:latin typeface="Arial"/>
                <a:ea typeface="Arial"/>
                <a:cs typeface="Arial"/>
                <a:sym typeface="Arial"/>
              </a:rPr>
              <a:t>E · macro-F1 policy</a:t>
            </a:r>
            <a:endParaRPr/>
          </a:p>
        </p:txBody>
      </p:sp>
      <p:sp>
        <p:nvSpPr>
          <p:cNvPr id="371" name="Google Shape;371;p34"/>
          <p:cNvSpPr/>
          <p:nvPr/>
        </p:nvSpPr>
        <p:spPr>
          <a:xfrm>
            <a:off x="3447288" y="4608576"/>
            <a:ext cx="3081528" cy="173736"/>
          </a:xfrm>
          <a:prstGeom prst="roundRect">
            <a:avLst>
              <a:gd fmla="val 16667" name="adj"/>
            </a:avLst>
          </a:prstGeom>
          <a:solidFill>
            <a:srgbClr val="EEF2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34"/>
          <p:cNvSpPr/>
          <p:nvPr/>
        </p:nvSpPr>
        <p:spPr>
          <a:xfrm>
            <a:off x="3447288" y="4608576"/>
            <a:ext cx="2465222" cy="173736"/>
          </a:xfrm>
          <a:prstGeom prst="roundRect">
            <a:avLst>
              <a:gd fmla="val 16667" name="adj"/>
            </a:avLst>
          </a:prstGeom>
          <a:solidFill>
            <a:srgbClr val="D2982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34"/>
          <p:cNvSpPr txBox="1"/>
          <p:nvPr/>
        </p:nvSpPr>
        <p:spPr>
          <a:xfrm>
            <a:off x="6556248" y="4553712"/>
            <a:ext cx="91440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D29821"/>
                </a:solidFill>
                <a:latin typeface="Arial"/>
                <a:ea typeface="Arial"/>
                <a:cs typeface="Arial"/>
                <a:sym typeface="Arial"/>
              </a:rPr>
              <a:t>80%  (212/265)</a:t>
            </a:r>
            <a:endParaRPr/>
          </a:p>
        </p:txBody>
      </p:sp>
      <p:sp>
        <p:nvSpPr>
          <p:cNvPr id="374" name="Google Shape;374;p34"/>
          <p:cNvSpPr txBox="1"/>
          <p:nvPr/>
        </p:nvSpPr>
        <p:spPr>
          <a:xfrm>
            <a:off x="859536" y="5084064"/>
            <a:ext cx="2423160" cy="25603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250" u="none" cap="none" strike="noStrike">
                <a:solidFill>
                  <a:srgbClr val="10273E"/>
                </a:solidFill>
                <a:latin typeface="Arial"/>
                <a:ea typeface="Arial"/>
                <a:cs typeface="Arial"/>
                <a:sym typeface="Arial"/>
              </a:rPr>
              <a:t>F · recall policy</a:t>
            </a:r>
            <a:endParaRPr/>
          </a:p>
        </p:txBody>
      </p:sp>
      <p:sp>
        <p:nvSpPr>
          <p:cNvPr id="375" name="Google Shape;375;p34"/>
          <p:cNvSpPr/>
          <p:nvPr/>
        </p:nvSpPr>
        <p:spPr>
          <a:xfrm>
            <a:off x="3447288" y="5120640"/>
            <a:ext cx="3081528" cy="173736"/>
          </a:xfrm>
          <a:prstGeom prst="roundRect">
            <a:avLst>
              <a:gd fmla="val 16667" name="adj"/>
            </a:avLst>
          </a:prstGeom>
          <a:solidFill>
            <a:srgbClr val="EEF2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34"/>
          <p:cNvSpPr/>
          <p:nvPr/>
        </p:nvSpPr>
        <p:spPr>
          <a:xfrm>
            <a:off x="3447288" y="5120640"/>
            <a:ext cx="2465222" cy="173736"/>
          </a:xfrm>
          <a:prstGeom prst="roundRect">
            <a:avLst>
              <a:gd fmla="val 16667" name="adj"/>
            </a:avLst>
          </a:prstGeom>
          <a:solidFill>
            <a:srgbClr val="087E8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34"/>
          <p:cNvSpPr txBox="1"/>
          <p:nvPr/>
        </p:nvSpPr>
        <p:spPr>
          <a:xfrm>
            <a:off x="6556248" y="5065776"/>
            <a:ext cx="91440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087E85"/>
                </a:solidFill>
                <a:latin typeface="Arial"/>
                <a:ea typeface="Arial"/>
                <a:cs typeface="Arial"/>
                <a:sym typeface="Arial"/>
              </a:rPr>
              <a:t>80%  (212/265)</a:t>
            </a:r>
            <a:endParaRPr/>
          </a:p>
        </p:txBody>
      </p:sp>
      <p:sp>
        <p:nvSpPr>
          <p:cNvPr id="378" name="Google Shape;378;p34"/>
          <p:cNvSpPr txBox="1"/>
          <p:nvPr/>
        </p:nvSpPr>
        <p:spPr>
          <a:xfrm>
            <a:off x="850392" y="5687568"/>
            <a:ext cx="6345936" cy="329184"/>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00" u="none" cap="none" strike="noStrike">
                <a:solidFill>
                  <a:srgbClr val="657589"/>
                </a:solidFill>
                <a:latin typeface="Arial"/>
                <a:ea typeface="Arial"/>
                <a:cs typeface="Arial"/>
                <a:sym typeface="Arial"/>
              </a:rPr>
              <a:t>Comparison is coverage, not evidence that F has higher accuracy on the same units.</a:t>
            </a:r>
            <a:endParaRPr/>
          </a:p>
        </p:txBody>
      </p:sp>
      <p:sp>
        <p:nvSpPr>
          <p:cNvPr id="379" name="Google Shape;379;p34"/>
          <p:cNvSpPr/>
          <p:nvPr/>
        </p:nvSpPr>
        <p:spPr>
          <a:xfrm>
            <a:off x="7754112" y="1773936"/>
            <a:ext cx="3767328" cy="4325112"/>
          </a:xfrm>
          <a:prstGeom prst="roundRect">
            <a:avLst>
              <a:gd fmla="val 16667" name="adj"/>
            </a:avLst>
          </a:prstGeom>
          <a:solidFill>
            <a:srgbClr val="F1F8F8"/>
          </a:solidFill>
          <a:ln cap="flat" cmpd="sng" w="9525">
            <a:solidFill>
              <a:srgbClr val="D8E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34"/>
          <p:cNvSpPr txBox="1"/>
          <p:nvPr/>
        </p:nvSpPr>
        <p:spPr>
          <a:xfrm>
            <a:off x="8019288" y="2002536"/>
            <a:ext cx="3319272" cy="283464"/>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087E85"/>
                </a:solidFill>
                <a:latin typeface="Arial"/>
                <a:ea typeface="Arial"/>
                <a:cs typeface="Arial"/>
                <a:sym typeface="Arial"/>
              </a:rPr>
              <a:t>CONTROLLER REALITY CHECK</a:t>
            </a:r>
            <a:endParaRPr/>
          </a:p>
        </p:txBody>
      </p:sp>
      <p:sp>
        <p:nvSpPr>
          <p:cNvPr id="381" name="Google Shape;381;p34"/>
          <p:cNvSpPr txBox="1"/>
          <p:nvPr/>
        </p:nvSpPr>
        <p:spPr>
          <a:xfrm>
            <a:off x="8010144" y="2404872"/>
            <a:ext cx="3282696" cy="347472"/>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730" u="none" cap="none" strike="noStrike">
                <a:solidFill>
                  <a:srgbClr val="10273E"/>
                </a:solidFill>
                <a:latin typeface="Arial"/>
                <a:ea typeface="Arial"/>
                <a:cs typeface="Arial"/>
                <a:sym typeface="Arial"/>
              </a:rPr>
              <a:t>E and F both cover 80%</a:t>
            </a:r>
            <a:endParaRPr/>
          </a:p>
        </p:txBody>
      </p:sp>
      <p:sp>
        <p:nvSpPr>
          <p:cNvPr id="382" name="Google Shape;382;p34"/>
          <p:cNvSpPr txBox="1"/>
          <p:nvPr/>
        </p:nvSpPr>
        <p:spPr>
          <a:xfrm>
            <a:off x="8019288" y="2880360"/>
            <a:ext cx="3136392" cy="265176"/>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300" u="none" cap="none" strike="noStrike">
                <a:solidFill>
                  <a:srgbClr val="657589"/>
                </a:solidFill>
                <a:latin typeface="Arial"/>
                <a:ea typeface="Arial"/>
                <a:cs typeface="Arial"/>
                <a:sym typeface="Arial"/>
              </a:rPr>
              <a:t>Under this mixed schedule:</a:t>
            </a:r>
            <a:endParaRPr/>
          </a:p>
        </p:txBody>
      </p:sp>
      <p:sp>
        <p:nvSpPr>
          <p:cNvPr id="383" name="Google Shape;383;p34"/>
          <p:cNvSpPr txBox="1"/>
          <p:nvPr/>
        </p:nvSpPr>
        <p:spPr>
          <a:xfrm>
            <a:off x="8010144" y="3264408"/>
            <a:ext cx="329184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10273E"/>
                </a:solidFill>
                <a:latin typeface="Arial"/>
                <a:ea typeface="Arial"/>
                <a:cs typeface="Arial"/>
                <a:sym typeface="Arial"/>
              </a:rPr>
              <a:t>E  ·  78.6% abnormal recall</a:t>
            </a:r>
            <a:endParaRPr/>
          </a:p>
        </p:txBody>
      </p:sp>
      <p:sp>
        <p:nvSpPr>
          <p:cNvPr id="384" name="Google Shape;384;p34"/>
          <p:cNvSpPr txBox="1"/>
          <p:nvPr/>
        </p:nvSpPr>
        <p:spPr>
          <a:xfrm>
            <a:off x="8010144" y="3575304"/>
            <a:ext cx="3163824" cy="27432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57589"/>
                </a:solidFill>
                <a:latin typeface="Arial"/>
                <a:ea typeface="Arial"/>
                <a:cs typeface="Arial"/>
                <a:sym typeface="Arial"/>
              </a:rPr>
              <a:t>     8.00 GFLOPs / request</a:t>
            </a:r>
            <a:endParaRPr/>
          </a:p>
        </p:txBody>
      </p:sp>
      <p:sp>
        <p:nvSpPr>
          <p:cNvPr id="385" name="Google Shape;385;p34"/>
          <p:cNvSpPr txBox="1"/>
          <p:nvPr/>
        </p:nvSpPr>
        <p:spPr>
          <a:xfrm>
            <a:off x="8010144" y="4041648"/>
            <a:ext cx="3291840" cy="292608"/>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400" u="none" cap="none" strike="noStrike">
                <a:solidFill>
                  <a:srgbClr val="10273E"/>
                </a:solidFill>
                <a:latin typeface="Arial"/>
                <a:ea typeface="Arial"/>
                <a:cs typeface="Arial"/>
                <a:sym typeface="Arial"/>
              </a:rPr>
              <a:t>F  ·  76.8% abnormal recall</a:t>
            </a:r>
            <a:endParaRPr/>
          </a:p>
        </p:txBody>
      </p:sp>
      <p:sp>
        <p:nvSpPr>
          <p:cNvPr id="386" name="Google Shape;386;p34"/>
          <p:cNvSpPr txBox="1"/>
          <p:nvPr/>
        </p:nvSpPr>
        <p:spPr>
          <a:xfrm>
            <a:off x="8010144" y="4352544"/>
            <a:ext cx="3163824" cy="27432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57589"/>
                </a:solidFill>
                <a:latin typeface="Arial"/>
                <a:ea typeface="Arial"/>
                <a:cs typeface="Arial"/>
                <a:sym typeface="Arial"/>
              </a:rPr>
              <a:t>     9.63 GFLOPs / request</a:t>
            </a:r>
            <a:endParaRPr/>
          </a:p>
        </p:txBody>
      </p:sp>
      <p:sp>
        <p:nvSpPr>
          <p:cNvPr id="387" name="Google Shape;387;p34"/>
          <p:cNvSpPr/>
          <p:nvPr/>
        </p:nvSpPr>
        <p:spPr>
          <a:xfrm>
            <a:off x="8046720" y="4782312"/>
            <a:ext cx="2926080" cy="13716"/>
          </a:xfrm>
          <a:prstGeom prst="rect">
            <a:avLst/>
          </a:prstGeom>
          <a:solidFill>
            <a:srgbClr val="CEDF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34"/>
          <p:cNvSpPr txBox="1"/>
          <p:nvPr/>
        </p:nvSpPr>
        <p:spPr>
          <a:xfrm>
            <a:off x="8010144" y="4974336"/>
            <a:ext cx="3246000" cy="3909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50" u="none" cap="none" strike="noStrike">
                <a:solidFill>
                  <a:srgbClr val="10273E"/>
                </a:solidFill>
                <a:latin typeface="Arial"/>
                <a:ea typeface="Arial"/>
                <a:cs typeface="Arial"/>
                <a:sym typeface="Arial"/>
              </a:rPr>
              <a:t>E used less compute with higher observed recall. F was not retuned on test.</a:t>
            </a:r>
            <a:endParaRPr/>
          </a:p>
        </p:txBody>
      </p:sp>
      <p:sp>
        <p:nvSpPr>
          <p:cNvPr id="389" name="Google Shape;389;p34"/>
          <p:cNvSpPr txBox="1"/>
          <p:nvPr/>
        </p:nvSpPr>
        <p:spPr>
          <a:xfrm>
            <a:off x="713232" y="6217920"/>
            <a:ext cx="10744200" cy="2286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30" u="none" cap="none" strike="noStrike">
                <a:solidFill>
                  <a:srgbClr val="657589"/>
                </a:solidFill>
                <a:latin typeface="Arial"/>
                <a:ea typeface="Arial"/>
                <a:cs typeface="Arial"/>
                <a:sym typeface="Arial"/>
              </a:rPr>
              <a:t>MobileNetV2 (A) also reaches 80% coverage and uses fewer FLOPs than F.</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394" name="Shape 394"/>
        <p:cNvGrpSpPr/>
        <p:nvPr/>
      </p:nvGrpSpPr>
      <p:grpSpPr>
        <a:xfrm>
          <a:off x="0" y="0"/>
          <a:ext cx="0" cy="0"/>
          <a:chOff x="0" y="0"/>
          <a:chExt cx="0" cy="0"/>
        </a:xfrm>
      </p:grpSpPr>
      <p:sp>
        <p:nvSpPr>
          <p:cNvPr id="395" name="Google Shape;395;p35"/>
          <p:cNvSpPr/>
          <p:nvPr/>
        </p:nvSpPr>
        <p:spPr>
          <a:xfrm>
            <a:off x="0" y="0"/>
            <a:ext cx="118800"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35"/>
          <p:cNvSpPr txBox="1"/>
          <p:nvPr/>
        </p:nvSpPr>
        <p:spPr>
          <a:xfrm>
            <a:off x="502920" y="228600"/>
            <a:ext cx="10881300" cy="187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397" name="Google Shape;397;p35"/>
          <p:cNvSpPr txBox="1"/>
          <p:nvPr/>
        </p:nvSpPr>
        <p:spPr>
          <a:xfrm>
            <a:off x="502920" y="612648"/>
            <a:ext cx="10972800" cy="418500"/>
          </a:xfrm>
          <a:prstGeom prst="rect">
            <a:avLst/>
          </a:prstGeom>
          <a:solidFill>
            <a:srgbClr val="000000">
              <a:alpha val="0"/>
            </a:srgbClr>
          </a:solidFill>
          <a:ln>
            <a:noFill/>
          </a:ln>
        </p:spPr>
        <p:txBody>
          <a:bodyPr anchorCtr="0" anchor="t" bIns="9100" lIns="0" spcFirstLastPara="1" rIns="0" wrap="square" tIns="9100">
            <a:spAutoFit/>
          </a:bodyPr>
          <a:lstStyle/>
          <a:p>
            <a:pPr indent="0" lvl="0" marL="0" marR="0" rtl="0" algn="l">
              <a:lnSpc>
                <a:spcPct val="100000"/>
              </a:lnSpc>
              <a:spcBef>
                <a:spcPts val="0"/>
              </a:spcBef>
              <a:spcAft>
                <a:spcPts val="0"/>
              </a:spcAft>
              <a:buNone/>
            </a:pPr>
            <a:r>
              <a:rPr b="1" i="0" lang="en-US" sz="2600" u="none" cap="none" strike="noStrike">
                <a:solidFill>
                  <a:srgbClr val="10273E"/>
                </a:solidFill>
                <a:latin typeface="Arial"/>
                <a:ea typeface="Arial"/>
                <a:cs typeface="Arial"/>
                <a:sym typeface="Arial"/>
              </a:rPr>
              <a:t>CPU </a:t>
            </a:r>
            <a:r>
              <a:rPr b="1" lang="en-US" sz="2600">
                <a:solidFill>
                  <a:srgbClr val="10273E"/>
                </a:solidFill>
              </a:rPr>
              <a:t>L</a:t>
            </a:r>
            <a:r>
              <a:rPr b="1" i="0" lang="en-US" sz="2600" u="none" cap="none" strike="noStrike">
                <a:solidFill>
                  <a:srgbClr val="10273E"/>
                </a:solidFill>
                <a:latin typeface="Arial"/>
                <a:ea typeface="Arial"/>
                <a:cs typeface="Arial"/>
                <a:sym typeface="Arial"/>
              </a:rPr>
              <a:t>atency</a:t>
            </a:r>
            <a:endParaRPr/>
          </a:p>
        </p:txBody>
      </p:sp>
      <p:sp>
        <p:nvSpPr>
          <p:cNvPr id="398" name="Google Shape;398;p35"/>
          <p:cNvSpPr txBox="1"/>
          <p:nvPr/>
        </p:nvSpPr>
        <p:spPr>
          <a:xfrm>
            <a:off x="521207" y="1161288"/>
            <a:ext cx="10881300" cy="210900"/>
          </a:xfrm>
          <a:prstGeom prst="rect">
            <a:avLst/>
          </a:prstGeom>
          <a:solidFill>
            <a:srgbClr val="000000">
              <a:alpha val="0"/>
            </a:srgbClr>
          </a:solidFill>
          <a:ln>
            <a:noFill/>
          </a:ln>
        </p:spPr>
        <p:txBody>
          <a:bodyPr anchorCtr="0" anchor="t" bIns="9100" lIns="0" spcFirstLastPara="1" rIns="0" wrap="square" tIns="9100">
            <a:spAutoFit/>
          </a:bodyPr>
          <a:lstStyle/>
          <a:p>
            <a:pPr indent="0" lvl="0" marL="0" marR="0" rtl="0" algn="l">
              <a:lnSpc>
                <a:spcPct val="100000"/>
              </a:lnSpc>
              <a:spcBef>
                <a:spcPts val="0"/>
              </a:spcBef>
              <a:spcAft>
                <a:spcPts val="0"/>
              </a:spcAft>
              <a:buNone/>
            </a:pPr>
            <a:r>
              <a:rPr b="0" i="0" lang="en-US" sz="1250" u="none" cap="none" strike="noStrike">
                <a:solidFill>
                  <a:srgbClr val="657589"/>
                </a:solidFill>
                <a:latin typeface="Arial"/>
                <a:ea typeface="Arial"/>
                <a:cs typeface="Arial"/>
                <a:sym typeface="Arial"/>
              </a:rPr>
              <a:t>Validation benchmark · JPEG preprocessing + model inference · one laptop CPU, four threads</a:t>
            </a:r>
            <a:endParaRPr/>
          </a:p>
        </p:txBody>
      </p:sp>
      <p:sp>
        <p:nvSpPr>
          <p:cNvPr id="399" name="Google Shape;399;p35"/>
          <p:cNvSpPr/>
          <p:nvPr/>
        </p:nvSpPr>
        <p:spPr>
          <a:xfrm>
            <a:off x="502920" y="6473952"/>
            <a:ext cx="11201400" cy="15600"/>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35"/>
          <p:cNvSpPr txBox="1"/>
          <p:nvPr/>
        </p:nvSpPr>
        <p:spPr>
          <a:xfrm>
            <a:off x="11064240" y="6510528"/>
            <a:ext cx="612600" cy="1569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10 / 11</a:t>
            </a:r>
            <a:endParaRPr/>
          </a:p>
        </p:txBody>
      </p:sp>
      <p:sp>
        <p:nvSpPr>
          <p:cNvPr id="401" name="Google Shape;401;p35"/>
          <p:cNvSpPr/>
          <p:nvPr/>
        </p:nvSpPr>
        <p:spPr>
          <a:xfrm>
            <a:off x="667500" y="1593462"/>
            <a:ext cx="6949500" cy="4642800"/>
          </a:xfrm>
          <a:prstGeom prst="roundRect">
            <a:avLst>
              <a:gd fmla="val 16667" name="adj"/>
            </a:avLst>
          </a:prstGeom>
          <a:solidFill>
            <a:srgbClr val="FFFFFF"/>
          </a:solidFill>
          <a:ln cap="flat" cmpd="sng" w="9525">
            <a:solidFill>
              <a:srgbClr val="DBE5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35"/>
          <p:cNvSpPr txBox="1"/>
          <p:nvPr/>
        </p:nvSpPr>
        <p:spPr>
          <a:xfrm>
            <a:off x="868680" y="1956816"/>
            <a:ext cx="6345900" cy="2910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650" u="none" cap="none" strike="noStrike">
                <a:solidFill>
                  <a:srgbClr val="10273E"/>
                </a:solidFill>
                <a:latin typeface="Arial"/>
                <a:ea typeface="Arial"/>
                <a:cs typeface="Arial"/>
                <a:sym typeface="Arial"/>
              </a:rPr>
              <a:t>Median latency per sequence (ms)</a:t>
            </a:r>
            <a:endParaRPr/>
          </a:p>
        </p:txBody>
      </p:sp>
      <p:sp>
        <p:nvSpPr>
          <p:cNvPr id="403" name="Google Shape;403;p35"/>
          <p:cNvSpPr txBox="1"/>
          <p:nvPr/>
        </p:nvSpPr>
        <p:spPr>
          <a:xfrm>
            <a:off x="850392" y="2542032"/>
            <a:ext cx="2478000" cy="2139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50" u="none" cap="none" strike="noStrike">
                <a:solidFill>
                  <a:srgbClr val="10273E"/>
                </a:solidFill>
                <a:latin typeface="Arial"/>
                <a:ea typeface="Arial"/>
                <a:cs typeface="Arial"/>
                <a:sym typeface="Arial"/>
              </a:rPr>
              <a:t>Nested w0.5 K2</a:t>
            </a:r>
            <a:endParaRPr/>
          </a:p>
        </p:txBody>
      </p:sp>
      <p:sp>
        <p:nvSpPr>
          <p:cNvPr id="404" name="Google Shape;404;p35"/>
          <p:cNvSpPr/>
          <p:nvPr/>
        </p:nvSpPr>
        <p:spPr>
          <a:xfrm>
            <a:off x="3346704" y="2578608"/>
            <a:ext cx="3429000" cy="164700"/>
          </a:xfrm>
          <a:prstGeom prst="roundRect">
            <a:avLst>
              <a:gd fmla="val 16667" name="adj"/>
            </a:avLst>
          </a:prstGeom>
          <a:solidFill>
            <a:srgbClr val="EDF1F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35"/>
          <p:cNvSpPr/>
          <p:nvPr/>
        </p:nvSpPr>
        <p:spPr>
          <a:xfrm>
            <a:off x="3346704" y="2578608"/>
            <a:ext cx="283200" cy="164700"/>
          </a:xfrm>
          <a:prstGeom prst="roundRect">
            <a:avLst>
              <a:gd fmla="val 16667" name="adj"/>
            </a:avLst>
          </a:prstGeom>
          <a:solidFill>
            <a:srgbClr val="087E8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35"/>
          <p:cNvSpPr txBox="1"/>
          <p:nvPr/>
        </p:nvSpPr>
        <p:spPr>
          <a:xfrm>
            <a:off x="6839712" y="2528315"/>
            <a:ext cx="777300" cy="2124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40" u="none" cap="none" strike="noStrike">
                <a:solidFill>
                  <a:srgbClr val="087E85"/>
                </a:solidFill>
                <a:latin typeface="Arial"/>
                <a:ea typeface="Arial"/>
                <a:cs typeface="Arial"/>
                <a:sym typeface="Arial"/>
              </a:rPr>
              <a:t>38 ms</a:t>
            </a:r>
            <a:endParaRPr/>
          </a:p>
        </p:txBody>
      </p:sp>
      <p:sp>
        <p:nvSpPr>
          <p:cNvPr id="407" name="Google Shape;407;p35"/>
          <p:cNvSpPr txBox="1"/>
          <p:nvPr/>
        </p:nvSpPr>
        <p:spPr>
          <a:xfrm>
            <a:off x="850392" y="3054096"/>
            <a:ext cx="2478000" cy="2139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50" u="none" cap="none" strike="noStrike">
                <a:solidFill>
                  <a:srgbClr val="10273E"/>
                </a:solidFill>
                <a:latin typeface="Arial"/>
                <a:ea typeface="Arial"/>
                <a:cs typeface="Arial"/>
                <a:sym typeface="Arial"/>
              </a:rPr>
              <a:t>MobileNetV2 K16</a:t>
            </a:r>
            <a:endParaRPr/>
          </a:p>
        </p:txBody>
      </p:sp>
      <p:sp>
        <p:nvSpPr>
          <p:cNvPr id="408" name="Google Shape;408;p35"/>
          <p:cNvSpPr/>
          <p:nvPr/>
        </p:nvSpPr>
        <p:spPr>
          <a:xfrm>
            <a:off x="3346704" y="3090672"/>
            <a:ext cx="3429000" cy="164700"/>
          </a:xfrm>
          <a:prstGeom prst="roundRect">
            <a:avLst>
              <a:gd fmla="val 16667" name="adj"/>
            </a:avLst>
          </a:prstGeom>
          <a:solidFill>
            <a:srgbClr val="EDF1F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35"/>
          <p:cNvSpPr/>
          <p:nvPr/>
        </p:nvSpPr>
        <p:spPr>
          <a:xfrm>
            <a:off x="3346704" y="3090672"/>
            <a:ext cx="1224600" cy="164700"/>
          </a:xfrm>
          <a:prstGeom prst="roundRect">
            <a:avLst>
              <a:gd fmla="val 16667" name="adj"/>
            </a:avLst>
          </a:prstGeom>
          <a:solidFill>
            <a:srgbClr val="65758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35"/>
          <p:cNvSpPr txBox="1"/>
          <p:nvPr/>
        </p:nvSpPr>
        <p:spPr>
          <a:xfrm>
            <a:off x="6839712" y="3040379"/>
            <a:ext cx="777300" cy="2124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40" u="none" cap="none" strike="noStrike">
                <a:solidFill>
                  <a:srgbClr val="657589"/>
                </a:solidFill>
                <a:latin typeface="Arial"/>
                <a:ea typeface="Arial"/>
                <a:cs typeface="Arial"/>
                <a:sym typeface="Arial"/>
              </a:rPr>
              <a:t>164 ms</a:t>
            </a:r>
            <a:endParaRPr/>
          </a:p>
        </p:txBody>
      </p:sp>
      <p:sp>
        <p:nvSpPr>
          <p:cNvPr id="411" name="Google Shape;411;p35"/>
          <p:cNvSpPr txBox="1"/>
          <p:nvPr/>
        </p:nvSpPr>
        <p:spPr>
          <a:xfrm>
            <a:off x="850392" y="3566160"/>
            <a:ext cx="2478000" cy="2139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50" u="none" cap="none" strike="noStrike">
                <a:solidFill>
                  <a:srgbClr val="10273E"/>
                </a:solidFill>
                <a:latin typeface="Arial"/>
                <a:ea typeface="Arial"/>
                <a:cs typeface="Arial"/>
                <a:sym typeface="Arial"/>
              </a:rPr>
              <a:t>Nested w1.0 K8</a:t>
            </a:r>
            <a:endParaRPr/>
          </a:p>
        </p:txBody>
      </p:sp>
      <p:sp>
        <p:nvSpPr>
          <p:cNvPr id="412" name="Google Shape;412;p35"/>
          <p:cNvSpPr/>
          <p:nvPr/>
        </p:nvSpPr>
        <p:spPr>
          <a:xfrm>
            <a:off x="3346704" y="3602736"/>
            <a:ext cx="3429000" cy="164700"/>
          </a:xfrm>
          <a:prstGeom prst="roundRect">
            <a:avLst>
              <a:gd fmla="val 16667" name="adj"/>
            </a:avLst>
          </a:prstGeom>
          <a:solidFill>
            <a:srgbClr val="EDF1F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35"/>
          <p:cNvSpPr/>
          <p:nvPr/>
        </p:nvSpPr>
        <p:spPr>
          <a:xfrm>
            <a:off x="3346704" y="3602736"/>
            <a:ext cx="1485000" cy="164700"/>
          </a:xfrm>
          <a:prstGeom prst="roundRect">
            <a:avLst>
              <a:gd fmla="val 16667" name="adj"/>
            </a:avLst>
          </a:prstGeom>
          <a:solidFill>
            <a:srgbClr val="087E8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35"/>
          <p:cNvSpPr txBox="1"/>
          <p:nvPr/>
        </p:nvSpPr>
        <p:spPr>
          <a:xfrm>
            <a:off x="6839712" y="3552444"/>
            <a:ext cx="777300" cy="2124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40" u="none" cap="none" strike="noStrike">
                <a:solidFill>
                  <a:srgbClr val="087E85"/>
                </a:solidFill>
                <a:latin typeface="Arial"/>
                <a:ea typeface="Arial"/>
                <a:cs typeface="Arial"/>
                <a:sym typeface="Arial"/>
              </a:rPr>
              <a:t>199 ms</a:t>
            </a:r>
            <a:endParaRPr/>
          </a:p>
        </p:txBody>
      </p:sp>
      <p:sp>
        <p:nvSpPr>
          <p:cNvPr id="415" name="Google Shape;415;p35"/>
          <p:cNvSpPr txBox="1"/>
          <p:nvPr/>
        </p:nvSpPr>
        <p:spPr>
          <a:xfrm>
            <a:off x="850392" y="4078224"/>
            <a:ext cx="2478000" cy="2139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50" u="none" cap="none" strike="noStrike">
                <a:solidFill>
                  <a:srgbClr val="10273E"/>
                </a:solidFill>
                <a:latin typeface="Arial"/>
                <a:ea typeface="Arial"/>
                <a:cs typeface="Arial"/>
                <a:sym typeface="Arial"/>
              </a:rPr>
              <a:t>Nested w1.0 K12</a:t>
            </a:r>
            <a:endParaRPr/>
          </a:p>
        </p:txBody>
      </p:sp>
      <p:sp>
        <p:nvSpPr>
          <p:cNvPr id="416" name="Google Shape;416;p35"/>
          <p:cNvSpPr/>
          <p:nvPr/>
        </p:nvSpPr>
        <p:spPr>
          <a:xfrm>
            <a:off x="3346704" y="4114800"/>
            <a:ext cx="3429000" cy="164700"/>
          </a:xfrm>
          <a:prstGeom prst="roundRect">
            <a:avLst>
              <a:gd fmla="val 16667" name="adj"/>
            </a:avLst>
          </a:prstGeom>
          <a:solidFill>
            <a:srgbClr val="EDF1F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35"/>
          <p:cNvSpPr/>
          <p:nvPr/>
        </p:nvSpPr>
        <p:spPr>
          <a:xfrm>
            <a:off x="3346704" y="4114800"/>
            <a:ext cx="2303400" cy="164700"/>
          </a:xfrm>
          <a:prstGeom prst="roundRect">
            <a:avLst>
              <a:gd fmla="val 16667" name="adj"/>
            </a:avLst>
          </a:prstGeom>
          <a:solidFill>
            <a:srgbClr val="087E8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35"/>
          <p:cNvSpPr txBox="1"/>
          <p:nvPr/>
        </p:nvSpPr>
        <p:spPr>
          <a:xfrm>
            <a:off x="6839712" y="4064508"/>
            <a:ext cx="777300" cy="2124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40" u="none" cap="none" strike="noStrike">
                <a:solidFill>
                  <a:srgbClr val="087E85"/>
                </a:solidFill>
                <a:latin typeface="Arial"/>
                <a:ea typeface="Arial"/>
                <a:cs typeface="Arial"/>
                <a:sym typeface="Arial"/>
              </a:rPr>
              <a:t>309 ms</a:t>
            </a:r>
            <a:endParaRPr/>
          </a:p>
        </p:txBody>
      </p:sp>
      <p:sp>
        <p:nvSpPr>
          <p:cNvPr id="419" name="Google Shape;419;p35"/>
          <p:cNvSpPr txBox="1"/>
          <p:nvPr/>
        </p:nvSpPr>
        <p:spPr>
          <a:xfrm>
            <a:off x="850392" y="4590288"/>
            <a:ext cx="2478000" cy="2139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150" u="none" cap="none" strike="noStrike">
                <a:solidFill>
                  <a:srgbClr val="10273E"/>
                </a:solidFill>
                <a:latin typeface="Arial"/>
                <a:ea typeface="Arial"/>
                <a:cs typeface="Arial"/>
                <a:sym typeface="Arial"/>
              </a:rPr>
              <a:t>Nested w1.0 K16</a:t>
            </a:r>
            <a:endParaRPr/>
          </a:p>
        </p:txBody>
      </p:sp>
      <p:sp>
        <p:nvSpPr>
          <p:cNvPr id="420" name="Google Shape;420;p35"/>
          <p:cNvSpPr/>
          <p:nvPr/>
        </p:nvSpPr>
        <p:spPr>
          <a:xfrm>
            <a:off x="3346704" y="4626864"/>
            <a:ext cx="3429000" cy="164700"/>
          </a:xfrm>
          <a:prstGeom prst="roundRect">
            <a:avLst>
              <a:gd fmla="val 16667" name="adj"/>
            </a:avLst>
          </a:prstGeom>
          <a:solidFill>
            <a:srgbClr val="EDF1F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35"/>
          <p:cNvSpPr/>
          <p:nvPr/>
        </p:nvSpPr>
        <p:spPr>
          <a:xfrm>
            <a:off x="3346704" y="4626864"/>
            <a:ext cx="3102600" cy="164700"/>
          </a:xfrm>
          <a:prstGeom prst="roundRect">
            <a:avLst>
              <a:gd fmla="val 16667" name="adj"/>
            </a:avLst>
          </a:prstGeom>
          <a:solidFill>
            <a:srgbClr val="087E8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35"/>
          <p:cNvSpPr txBox="1"/>
          <p:nvPr/>
        </p:nvSpPr>
        <p:spPr>
          <a:xfrm>
            <a:off x="6839712" y="4576572"/>
            <a:ext cx="777300" cy="2124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40" u="none" cap="none" strike="noStrike">
                <a:solidFill>
                  <a:srgbClr val="087E85"/>
                </a:solidFill>
                <a:latin typeface="Arial"/>
                <a:ea typeface="Arial"/>
                <a:cs typeface="Arial"/>
                <a:sym typeface="Arial"/>
              </a:rPr>
              <a:t>416 ms</a:t>
            </a:r>
            <a:endParaRPr/>
          </a:p>
        </p:txBody>
      </p:sp>
      <p:sp>
        <p:nvSpPr>
          <p:cNvPr id="423" name="Google Shape;423;p35"/>
          <p:cNvSpPr txBox="1"/>
          <p:nvPr/>
        </p:nvSpPr>
        <p:spPr>
          <a:xfrm>
            <a:off x="850392" y="5102352"/>
            <a:ext cx="2478000" cy="2139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50" u="none" cap="none" strike="noStrike">
                <a:solidFill>
                  <a:srgbClr val="10273E"/>
                </a:solidFill>
                <a:latin typeface="Arial"/>
                <a:ea typeface="Arial"/>
                <a:cs typeface="Arial"/>
                <a:sym typeface="Arial"/>
              </a:rPr>
              <a:t>Original TinyViT K16</a:t>
            </a:r>
            <a:endParaRPr/>
          </a:p>
        </p:txBody>
      </p:sp>
      <p:sp>
        <p:nvSpPr>
          <p:cNvPr id="424" name="Google Shape;424;p35"/>
          <p:cNvSpPr/>
          <p:nvPr/>
        </p:nvSpPr>
        <p:spPr>
          <a:xfrm>
            <a:off x="3346704" y="5138928"/>
            <a:ext cx="3429000" cy="164700"/>
          </a:xfrm>
          <a:prstGeom prst="roundRect">
            <a:avLst>
              <a:gd fmla="val 16667" name="adj"/>
            </a:avLst>
          </a:prstGeom>
          <a:solidFill>
            <a:srgbClr val="EDF1F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35"/>
          <p:cNvSpPr/>
          <p:nvPr/>
        </p:nvSpPr>
        <p:spPr>
          <a:xfrm>
            <a:off x="3346704" y="5138928"/>
            <a:ext cx="3123300" cy="164700"/>
          </a:xfrm>
          <a:prstGeom prst="roundRect">
            <a:avLst>
              <a:gd fmla="val 16667" name="adj"/>
            </a:avLst>
          </a:prstGeom>
          <a:solidFill>
            <a:srgbClr val="10273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35"/>
          <p:cNvSpPr txBox="1"/>
          <p:nvPr/>
        </p:nvSpPr>
        <p:spPr>
          <a:xfrm>
            <a:off x="6839712" y="5088636"/>
            <a:ext cx="777300" cy="2124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1" i="0" lang="en-US" sz="1140" u="none" cap="none" strike="noStrike">
                <a:solidFill>
                  <a:srgbClr val="10273E"/>
                </a:solidFill>
                <a:latin typeface="Arial"/>
                <a:ea typeface="Arial"/>
                <a:cs typeface="Arial"/>
                <a:sym typeface="Arial"/>
              </a:rPr>
              <a:t>419 ms</a:t>
            </a:r>
            <a:endParaRPr/>
          </a:p>
        </p:txBody>
      </p:sp>
      <p:sp>
        <p:nvSpPr>
          <p:cNvPr id="427" name="Google Shape;427;p35"/>
          <p:cNvSpPr txBox="1"/>
          <p:nvPr/>
        </p:nvSpPr>
        <p:spPr>
          <a:xfrm>
            <a:off x="877824" y="5824728"/>
            <a:ext cx="6583800" cy="1986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050" u="none" cap="none" strike="noStrike">
                <a:solidFill>
                  <a:srgbClr val="657589"/>
                </a:solidFill>
                <a:latin typeface="Arial"/>
                <a:ea typeface="Arial"/>
                <a:cs typeface="Arial"/>
                <a:sym typeface="Arial"/>
              </a:rPr>
              <a:t>200 validation requests · 50 warmups · 5 repeats · AMD Ryzen AI 9 HX 370</a:t>
            </a:r>
            <a:endParaRPr/>
          </a:p>
        </p:txBody>
      </p:sp>
      <p:sp>
        <p:nvSpPr>
          <p:cNvPr id="428" name="Google Shape;428;p35"/>
          <p:cNvSpPr txBox="1"/>
          <p:nvPr/>
        </p:nvSpPr>
        <p:spPr>
          <a:xfrm>
            <a:off x="740664" y="6291072"/>
            <a:ext cx="10689300" cy="203100"/>
          </a:xfrm>
          <a:prstGeom prst="rect">
            <a:avLst/>
          </a:prstGeom>
          <a:noFill/>
          <a:ln>
            <a:noFill/>
          </a:ln>
        </p:spPr>
        <p:txBody>
          <a:bodyPr anchorCtr="0" anchor="t" bIns="18275" lIns="27425" spcFirstLastPara="1" rIns="27425" wrap="square" tIns="18275">
            <a:spAutoFit/>
          </a:bodyPr>
          <a:lstStyle/>
          <a:p>
            <a:pPr indent="0" lvl="0" marL="0" marR="0" rtl="0" algn="l">
              <a:lnSpc>
                <a:spcPct val="100000"/>
              </a:lnSpc>
              <a:spcBef>
                <a:spcPts val="0"/>
              </a:spcBef>
              <a:spcAft>
                <a:spcPts val="0"/>
              </a:spcAft>
              <a:buNone/>
            </a:pPr>
            <a:r>
              <a:rPr b="0" i="0" lang="en-US" sz="1080" u="none" cap="none" strike="noStrike">
                <a:solidFill>
                  <a:srgbClr val="657589"/>
                </a:solidFill>
                <a:latin typeface="Arial"/>
                <a:ea typeface="Arial"/>
                <a:cs typeface="Arial"/>
                <a:sym typeface="Arial"/>
              </a:rPr>
              <a:t>No measured energy or battery performance; this is not an ambulance device.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33" name="Shape 433"/>
        <p:cNvGrpSpPr/>
        <p:nvPr/>
      </p:nvGrpSpPr>
      <p:grpSpPr>
        <a:xfrm>
          <a:off x="0" y="0"/>
          <a:ext cx="0" cy="0"/>
          <a:chOff x="0" y="0"/>
          <a:chExt cx="0" cy="0"/>
        </a:xfrm>
      </p:grpSpPr>
      <p:sp>
        <p:nvSpPr>
          <p:cNvPr id="434" name="Google Shape;434;p36"/>
          <p:cNvSpPr/>
          <p:nvPr/>
        </p:nvSpPr>
        <p:spPr>
          <a:xfrm>
            <a:off x="0" y="0"/>
            <a:ext cx="118800" cy="6858000"/>
          </a:xfrm>
          <a:prstGeom prst="rect">
            <a:avLst/>
          </a:prstGeom>
          <a:solidFill>
            <a:srgbClr val="0E8D8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36"/>
          <p:cNvSpPr txBox="1"/>
          <p:nvPr/>
        </p:nvSpPr>
        <p:spPr>
          <a:xfrm>
            <a:off x="502920" y="228600"/>
            <a:ext cx="10881300" cy="187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8D88"/>
                </a:solidFill>
                <a:latin typeface="Arial"/>
                <a:ea typeface="Arial"/>
                <a:cs typeface="Arial"/>
                <a:sym typeface="Arial"/>
              </a:rPr>
              <a:t>BIG DATA AT THE EDGE  /  ADAPTIVE POCUS</a:t>
            </a:r>
            <a:endParaRPr b="0" i="0" sz="1400" u="none" cap="none" strike="noStrike">
              <a:solidFill>
                <a:srgbClr val="000000"/>
              </a:solidFill>
              <a:latin typeface="Arial"/>
              <a:ea typeface="Arial"/>
              <a:cs typeface="Arial"/>
              <a:sym typeface="Arial"/>
            </a:endParaRPr>
          </a:p>
        </p:txBody>
      </p:sp>
      <p:sp>
        <p:nvSpPr>
          <p:cNvPr id="436" name="Google Shape;436;p36"/>
          <p:cNvSpPr txBox="1"/>
          <p:nvPr/>
        </p:nvSpPr>
        <p:spPr>
          <a:xfrm>
            <a:off x="502920" y="612648"/>
            <a:ext cx="10972800" cy="421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i="0" lang="en-US" sz="2620" u="none" cap="none" strike="noStrike">
                <a:solidFill>
                  <a:srgbClr val="10273E"/>
                </a:solidFill>
                <a:latin typeface="Arial"/>
                <a:ea typeface="Arial"/>
                <a:cs typeface="Arial"/>
                <a:sym typeface="Arial"/>
              </a:rPr>
              <a:t>Conclusion</a:t>
            </a:r>
            <a:r>
              <a:rPr b="1" lang="en-US" sz="2620">
                <a:solidFill>
                  <a:srgbClr val="10273E"/>
                </a:solidFill>
              </a:rPr>
              <a:t> and Reflection</a:t>
            </a:r>
            <a:endParaRPr/>
          </a:p>
        </p:txBody>
      </p:sp>
      <p:sp>
        <p:nvSpPr>
          <p:cNvPr id="437" name="Google Shape;437;p36"/>
          <p:cNvSpPr txBox="1"/>
          <p:nvPr/>
        </p:nvSpPr>
        <p:spPr>
          <a:xfrm>
            <a:off x="521207" y="1161288"/>
            <a:ext cx="10881300" cy="218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300" u="none" cap="none" strike="noStrike">
                <a:solidFill>
                  <a:srgbClr val="657589"/>
                </a:solidFill>
                <a:latin typeface="Arial"/>
                <a:ea typeface="Arial"/>
                <a:cs typeface="Arial"/>
                <a:sym typeface="Arial"/>
              </a:rPr>
              <a:t>The flexible model family works; selecting the best resource policy is a separate problem.</a:t>
            </a:r>
            <a:endParaRPr/>
          </a:p>
        </p:txBody>
      </p:sp>
      <p:sp>
        <p:nvSpPr>
          <p:cNvPr id="438" name="Google Shape;438;p36"/>
          <p:cNvSpPr/>
          <p:nvPr/>
        </p:nvSpPr>
        <p:spPr>
          <a:xfrm>
            <a:off x="502920" y="6473952"/>
            <a:ext cx="11201400" cy="15600"/>
          </a:xfrm>
          <a:prstGeom prst="rect">
            <a:avLst/>
          </a:prstGeom>
          <a:solidFill>
            <a:srgbClr val="D6E0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36"/>
          <p:cNvSpPr txBox="1"/>
          <p:nvPr/>
        </p:nvSpPr>
        <p:spPr>
          <a:xfrm>
            <a:off x="11064240" y="6510528"/>
            <a:ext cx="612600" cy="1569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11 / 11</a:t>
            </a:r>
            <a:endParaRPr/>
          </a:p>
        </p:txBody>
      </p:sp>
      <p:sp>
        <p:nvSpPr>
          <p:cNvPr id="440" name="Google Shape;440;p36"/>
          <p:cNvSpPr/>
          <p:nvPr/>
        </p:nvSpPr>
        <p:spPr>
          <a:xfrm>
            <a:off x="667512" y="2029968"/>
            <a:ext cx="3429000" cy="2761500"/>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1" name="Google Shape;441;p36"/>
          <p:cNvSpPr/>
          <p:nvPr/>
        </p:nvSpPr>
        <p:spPr>
          <a:xfrm>
            <a:off x="877824" y="2267712"/>
            <a:ext cx="2349900" cy="292500"/>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36"/>
          <p:cNvSpPr txBox="1"/>
          <p:nvPr/>
        </p:nvSpPr>
        <p:spPr>
          <a:xfrm>
            <a:off x="987552" y="2299716"/>
            <a:ext cx="2130600" cy="187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i="0" lang="en-US" sz="1100" u="none" cap="none" strike="noStrike">
                <a:solidFill>
                  <a:srgbClr val="087E85"/>
                </a:solidFill>
                <a:latin typeface="Arial"/>
                <a:ea typeface="Arial"/>
                <a:cs typeface="Arial"/>
                <a:sym typeface="Arial"/>
              </a:rPr>
              <a:t>BUILT</a:t>
            </a:r>
            <a:endParaRPr/>
          </a:p>
        </p:txBody>
      </p:sp>
      <p:sp>
        <p:nvSpPr>
          <p:cNvPr id="443" name="Google Shape;443;p36"/>
          <p:cNvSpPr txBox="1"/>
          <p:nvPr/>
        </p:nvSpPr>
        <p:spPr>
          <a:xfrm>
            <a:off x="886968" y="3017520"/>
            <a:ext cx="3017400" cy="812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lang="en-US" sz="1720">
                <a:solidFill>
                  <a:srgbClr val="10273E"/>
                </a:solidFill>
              </a:rPr>
              <a:t>S</a:t>
            </a:r>
            <a:r>
              <a:rPr b="1" i="0" lang="en-US" sz="1720" u="none" cap="none" strike="noStrike">
                <a:solidFill>
                  <a:srgbClr val="10273E"/>
                </a:solidFill>
                <a:latin typeface="Arial"/>
                <a:ea typeface="Arial"/>
                <a:cs typeface="Arial"/>
                <a:sym typeface="Arial"/>
              </a:rPr>
              <a:t>hared-weight TinyViT </a:t>
            </a:r>
            <a:endParaRPr/>
          </a:p>
          <a:p>
            <a:pPr indent="0" lvl="0" marL="0" marR="0" rtl="0" algn="l">
              <a:lnSpc>
                <a:spcPct val="100000"/>
              </a:lnSpc>
              <a:spcBef>
                <a:spcPts val="0"/>
              </a:spcBef>
              <a:spcAft>
                <a:spcPts val="0"/>
              </a:spcAft>
              <a:buNone/>
            </a:pPr>
            <a:r>
              <a:rPr b="1" i="0" lang="en-US" sz="1720" u="none" cap="none" strike="noStrike">
                <a:solidFill>
                  <a:srgbClr val="10273E"/>
                </a:solidFill>
                <a:latin typeface="Arial"/>
                <a:ea typeface="Arial"/>
                <a:cs typeface="Arial"/>
                <a:sym typeface="Arial"/>
              </a:rPr>
              <a:t>with </a:t>
            </a:r>
            <a:r>
              <a:rPr b="1" lang="en-US" sz="1720">
                <a:solidFill>
                  <a:srgbClr val="10273E"/>
                </a:solidFill>
              </a:rPr>
              <a:t>24 configurations</a:t>
            </a:r>
            <a:endParaRPr/>
          </a:p>
          <a:p>
            <a:pPr indent="0" lvl="0" marL="0" marR="0" rtl="0" algn="l">
              <a:lnSpc>
                <a:spcPct val="100000"/>
              </a:lnSpc>
              <a:spcBef>
                <a:spcPts val="0"/>
              </a:spcBef>
              <a:spcAft>
                <a:spcPts val="0"/>
              </a:spcAft>
              <a:buNone/>
            </a:pPr>
            <a:r>
              <a:rPr b="1" lang="en-US" sz="1720">
                <a:solidFill>
                  <a:srgbClr val="10273E"/>
                </a:solidFill>
              </a:rPr>
              <a:t>on a</a:t>
            </a:r>
            <a:r>
              <a:rPr b="1" i="0" lang="en-US" sz="1720" u="none" cap="none" strike="noStrike">
                <a:solidFill>
                  <a:srgbClr val="10273E"/>
                </a:solidFill>
                <a:latin typeface="Arial"/>
                <a:ea typeface="Arial"/>
                <a:cs typeface="Arial"/>
                <a:sym typeface="Arial"/>
              </a:rPr>
              <a:t> budget routing</a:t>
            </a:r>
            <a:endParaRPr/>
          </a:p>
        </p:txBody>
      </p:sp>
      <p:sp>
        <p:nvSpPr>
          <p:cNvPr id="444" name="Google Shape;444;p36"/>
          <p:cNvSpPr/>
          <p:nvPr/>
        </p:nvSpPr>
        <p:spPr>
          <a:xfrm>
            <a:off x="4370831" y="2029968"/>
            <a:ext cx="3429000" cy="2761500"/>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p36"/>
          <p:cNvSpPr/>
          <p:nvPr/>
        </p:nvSpPr>
        <p:spPr>
          <a:xfrm>
            <a:off x="4581144" y="2267712"/>
            <a:ext cx="2349900" cy="292500"/>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p36"/>
          <p:cNvSpPr txBox="1"/>
          <p:nvPr/>
        </p:nvSpPr>
        <p:spPr>
          <a:xfrm>
            <a:off x="4690872" y="2299716"/>
            <a:ext cx="2130600" cy="187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i="0" lang="en-US" sz="1100" u="none" cap="none" strike="noStrike">
                <a:solidFill>
                  <a:srgbClr val="087E85"/>
                </a:solidFill>
                <a:latin typeface="Arial"/>
                <a:ea typeface="Arial"/>
                <a:cs typeface="Arial"/>
                <a:sym typeface="Arial"/>
              </a:rPr>
              <a:t>OBSERVED</a:t>
            </a:r>
            <a:endParaRPr/>
          </a:p>
        </p:txBody>
      </p:sp>
      <p:sp>
        <p:nvSpPr>
          <p:cNvPr id="447" name="Google Shape;447;p36"/>
          <p:cNvSpPr txBox="1"/>
          <p:nvPr/>
        </p:nvSpPr>
        <p:spPr>
          <a:xfrm>
            <a:off x="4590288" y="3017520"/>
            <a:ext cx="3017400" cy="812700"/>
          </a:xfrm>
          <a:prstGeom prst="rect">
            <a:avLst/>
          </a:prstGeom>
          <a:solidFill>
            <a:srgbClr val="000000">
              <a:alpha val="0"/>
            </a:srgbClr>
          </a:solidFill>
          <a:ln>
            <a:noFill/>
          </a:ln>
        </p:spPr>
        <p:txBody>
          <a:bodyPr anchorCtr="0" anchor="t" bIns="9100" lIns="0" spcFirstLastPara="1" rIns="0" wrap="square" tIns="9100">
            <a:spAutoFit/>
          </a:bodyPr>
          <a:lstStyle/>
          <a:p>
            <a:pPr indent="0" lvl="0" marL="0" rtl="0" algn="l">
              <a:spcBef>
                <a:spcPts val="0"/>
              </a:spcBef>
              <a:spcAft>
                <a:spcPts val="0"/>
              </a:spcAft>
              <a:buNone/>
            </a:pPr>
            <a:r>
              <a:rPr b="1" i="0" lang="en-US" sz="1720">
                <a:solidFill>
                  <a:srgbClr val="10273E"/>
                </a:solidFill>
                <a:latin typeface="Arial"/>
                <a:ea typeface="Arial"/>
                <a:cs typeface="Arial"/>
                <a:sym typeface="Arial"/>
              </a:rPr>
              <a:t>Requests completed:</a:t>
            </a:r>
            <a:endParaRPr b="1" i="0" sz="1720">
              <a:solidFill>
                <a:srgbClr val="10273E"/>
              </a:solidFill>
              <a:latin typeface="Arial"/>
              <a:ea typeface="Arial"/>
              <a:cs typeface="Arial"/>
              <a:sym typeface="Arial"/>
            </a:endParaRPr>
          </a:p>
          <a:p>
            <a:pPr indent="0" lvl="0" marL="0" rtl="0" algn="l">
              <a:spcBef>
                <a:spcPts val="0"/>
              </a:spcBef>
              <a:spcAft>
                <a:spcPts val="0"/>
              </a:spcAft>
              <a:buNone/>
            </a:pPr>
            <a:r>
              <a:rPr b="1" i="0" lang="en-US" sz="1720">
                <a:solidFill>
                  <a:srgbClr val="10273E"/>
                </a:solidFill>
                <a:latin typeface="Arial"/>
                <a:ea typeface="Arial"/>
                <a:cs typeface="Arial"/>
                <a:sym typeface="Arial"/>
              </a:rPr>
              <a:t>Original TinyVit → 20%</a:t>
            </a:r>
            <a:endParaRPr b="1" i="0" sz="1720">
              <a:solidFill>
                <a:srgbClr val="10273E"/>
              </a:solidFill>
              <a:latin typeface="Arial"/>
              <a:ea typeface="Arial"/>
              <a:cs typeface="Arial"/>
              <a:sym typeface="Arial"/>
            </a:endParaRPr>
          </a:p>
          <a:p>
            <a:pPr indent="0" lvl="0" marL="0" rtl="0" algn="l">
              <a:spcBef>
                <a:spcPts val="0"/>
              </a:spcBef>
              <a:spcAft>
                <a:spcPts val="0"/>
              </a:spcAft>
              <a:buNone/>
            </a:pPr>
            <a:r>
              <a:rPr b="1" i="0" lang="en-US" sz="1720">
                <a:solidFill>
                  <a:srgbClr val="10273E"/>
                </a:solidFill>
                <a:latin typeface="Arial"/>
                <a:ea typeface="Arial"/>
                <a:cs typeface="Arial"/>
                <a:sym typeface="Arial"/>
              </a:rPr>
              <a:t>Adaptive → 80%</a:t>
            </a:r>
            <a:endParaRPr b="1" i="0" sz="1720">
              <a:solidFill>
                <a:srgbClr val="10273E"/>
              </a:solidFill>
              <a:latin typeface="Arial"/>
              <a:ea typeface="Arial"/>
              <a:cs typeface="Arial"/>
              <a:sym typeface="Arial"/>
            </a:endParaRPr>
          </a:p>
        </p:txBody>
      </p:sp>
      <p:sp>
        <p:nvSpPr>
          <p:cNvPr id="448" name="Google Shape;448;p36"/>
          <p:cNvSpPr/>
          <p:nvPr/>
        </p:nvSpPr>
        <p:spPr>
          <a:xfrm>
            <a:off x="8074152" y="2029968"/>
            <a:ext cx="3429000" cy="2761500"/>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p36"/>
          <p:cNvSpPr/>
          <p:nvPr/>
        </p:nvSpPr>
        <p:spPr>
          <a:xfrm>
            <a:off x="8284464" y="2267712"/>
            <a:ext cx="2349900" cy="292500"/>
          </a:xfrm>
          <a:prstGeom prst="roundRect">
            <a:avLst>
              <a:gd fmla="val 13000" name="adj"/>
            </a:avLst>
          </a:prstGeom>
          <a:solidFill>
            <a:srgbClr val="FFF5E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0" name="Google Shape;450;p36"/>
          <p:cNvSpPr txBox="1"/>
          <p:nvPr/>
        </p:nvSpPr>
        <p:spPr>
          <a:xfrm>
            <a:off x="8394192" y="2299716"/>
            <a:ext cx="2130600" cy="187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i="0" lang="en-US" sz="1100" u="none" cap="none" strike="noStrike">
                <a:solidFill>
                  <a:srgbClr val="087E85"/>
                </a:solidFill>
                <a:latin typeface="Arial"/>
                <a:ea typeface="Arial"/>
                <a:cs typeface="Arial"/>
                <a:sym typeface="Arial"/>
              </a:rPr>
              <a:t>LEARNED</a:t>
            </a:r>
            <a:endParaRPr/>
          </a:p>
        </p:txBody>
      </p:sp>
      <p:sp>
        <p:nvSpPr>
          <p:cNvPr id="451" name="Google Shape;451;p36"/>
          <p:cNvSpPr txBox="1"/>
          <p:nvPr/>
        </p:nvSpPr>
        <p:spPr>
          <a:xfrm>
            <a:off x="8293608" y="3017520"/>
            <a:ext cx="3017400" cy="734100"/>
          </a:xfrm>
          <a:prstGeom prst="rect">
            <a:avLst/>
          </a:prstGeom>
          <a:solidFill>
            <a:srgbClr val="000000">
              <a:alpha val="0"/>
            </a:srgbClr>
          </a:solidFill>
          <a:ln>
            <a:noFill/>
          </a:ln>
        </p:spPr>
        <p:txBody>
          <a:bodyPr anchorCtr="0" anchor="t" bIns="9100" lIns="0" spcFirstLastPara="1" rIns="0" wrap="square" tIns="9100">
            <a:spAutoFit/>
          </a:bodyPr>
          <a:lstStyle/>
          <a:p>
            <a:pPr indent="0" lvl="0" marL="0" rtl="0" algn="l">
              <a:spcBef>
                <a:spcPts val="0"/>
              </a:spcBef>
              <a:spcAft>
                <a:spcPts val="0"/>
              </a:spcAft>
              <a:buNone/>
            </a:pPr>
            <a:r>
              <a:rPr b="1" i="0" lang="en-US" sz="1550" u="none" strike="noStrike">
                <a:solidFill>
                  <a:srgbClr val="10273E"/>
                </a:solidFill>
                <a:latin typeface="Arial"/>
                <a:ea typeface="Arial"/>
                <a:cs typeface="Arial"/>
                <a:sym typeface="Arial"/>
              </a:rPr>
              <a:t>Recall-priority F did</a:t>
            </a:r>
            <a:r>
              <a:rPr b="1" lang="en-US" sz="1550">
                <a:solidFill>
                  <a:srgbClr val="10273E"/>
                </a:solidFill>
                <a:latin typeface="Arial"/>
                <a:ea typeface="Arial"/>
                <a:cs typeface="Arial"/>
                <a:sym typeface="Arial"/>
              </a:rPr>
              <a:t> </a:t>
            </a:r>
            <a:r>
              <a:rPr b="1" i="0" lang="en-US" sz="1550" u="none" strike="noStrike">
                <a:solidFill>
                  <a:srgbClr val="10273E"/>
                </a:solidFill>
                <a:latin typeface="Arial"/>
                <a:ea typeface="Arial"/>
                <a:cs typeface="Arial"/>
                <a:sym typeface="Arial"/>
              </a:rPr>
              <a:t>not </a:t>
            </a:r>
            <a:endParaRPr b="1" i="0" sz="1550" u="none" strike="noStrike">
              <a:solidFill>
                <a:srgbClr val="10273E"/>
              </a:solidFill>
              <a:latin typeface="Arial"/>
              <a:ea typeface="Arial"/>
              <a:cs typeface="Arial"/>
              <a:sym typeface="Arial"/>
            </a:endParaRPr>
          </a:p>
          <a:p>
            <a:pPr indent="0" lvl="0" marL="0" rtl="0" algn="l">
              <a:spcBef>
                <a:spcPts val="0"/>
              </a:spcBef>
              <a:spcAft>
                <a:spcPts val="0"/>
              </a:spcAft>
              <a:buNone/>
            </a:pPr>
            <a:r>
              <a:rPr b="1" i="0" lang="en-US" sz="1550" u="none" strike="noStrike">
                <a:solidFill>
                  <a:srgbClr val="10273E"/>
                </a:solidFill>
                <a:latin typeface="Arial"/>
                <a:ea typeface="Arial"/>
                <a:cs typeface="Arial"/>
                <a:sym typeface="Arial"/>
              </a:rPr>
              <a:t>beat macro-F1</a:t>
            </a:r>
            <a:r>
              <a:rPr b="1" lang="en-US" sz="1550">
                <a:solidFill>
                  <a:srgbClr val="10273E"/>
                </a:solidFill>
                <a:latin typeface="Arial"/>
                <a:ea typeface="Arial"/>
                <a:cs typeface="Arial"/>
                <a:sym typeface="Arial"/>
              </a:rPr>
              <a:t> </a:t>
            </a:r>
            <a:r>
              <a:rPr b="1" i="0" lang="en-US" sz="1550" u="none" strike="noStrike">
                <a:solidFill>
                  <a:srgbClr val="10273E"/>
                </a:solidFill>
                <a:latin typeface="Arial"/>
                <a:ea typeface="Arial"/>
                <a:cs typeface="Arial"/>
                <a:sym typeface="Arial"/>
              </a:rPr>
              <a:t>policy E </a:t>
            </a:r>
            <a:endParaRPr b="1" i="0" sz="1550" u="none" strike="noStrike">
              <a:solidFill>
                <a:srgbClr val="10273E"/>
              </a:solidFill>
              <a:latin typeface="Arial"/>
              <a:ea typeface="Arial"/>
              <a:cs typeface="Arial"/>
              <a:sym typeface="Arial"/>
            </a:endParaRPr>
          </a:p>
          <a:p>
            <a:pPr indent="0" lvl="0" marL="0" rtl="0" algn="l">
              <a:spcBef>
                <a:spcPts val="0"/>
              </a:spcBef>
              <a:spcAft>
                <a:spcPts val="0"/>
              </a:spcAft>
              <a:buNone/>
            </a:pPr>
            <a:r>
              <a:rPr b="1" i="0" lang="en-US" sz="1550" u="none" strike="noStrike">
                <a:solidFill>
                  <a:srgbClr val="10273E"/>
                </a:solidFill>
                <a:latin typeface="Arial"/>
                <a:ea typeface="Arial"/>
                <a:cs typeface="Arial"/>
                <a:sym typeface="Arial"/>
              </a:rPr>
              <a:t>on held-out recall</a:t>
            </a:r>
            <a:endParaRPr b="1" i="0" sz="1550" u="none" strike="noStrike">
              <a:solidFill>
                <a:srgbClr val="10273E"/>
              </a:solidFill>
              <a:latin typeface="Arial"/>
              <a:ea typeface="Arial"/>
              <a:cs typeface="Arial"/>
              <a:sym typeface="Arial"/>
            </a:endParaRPr>
          </a:p>
        </p:txBody>
      </p:sp>
      <p:sp>
        <p:nvSpPr>
          <p:cNvPr id="452" name="Google Shape;452;p36"/>
          <p:cNvSpPr/>
          <p:nvPr/>
        </p:nvSpPr>
        <p:spPr>
          <a:xfrm>
            <a:off x="713232" y="5230368"/>
            <a:ext cx="10671000" cy="759000"/>
          </a:xfrm>
          <a:prstGeom prst="roundRect">
            <a:avLst>
              <a:gd fmla="val 13000" name="adj"/>
            </a:avLst>
          </a:prstGeom>
          <a:solidFill>
            <a:srgbClr val="E3F6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p36"/>
          <p:cNvSpPr txBox="1"/>
          <p:nvPr/>
        </p:nvSpPr>
        <p:spPr>
          <a:xfrm>
            <a:off x="960120" y="5449824"/>
            <a:ext cx="10241400" cy="2001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180" u="none" cap="none" strike="noStrike">
                <a:solidFill>
                  <a:srgbClr val="10273E"/>
                </a:solidFill>
                <a:latin typeface="Arial"/>
                <a:ea typeface="Arial"/>
                <a:cs typeface="Arial"/>
                <a:sym typeface="Arial"/>
              </a:rPr>
              <a:t>MobileNetV2 also reaches 80% coverage  ·  OpenPOCUS proxy ≠ clinical validation  ·  FLOPs ≠ energy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C2D"/>
        </a:solidFill>
      </p:bgPr>
    </p:bg>
    <p:spTree>
      <p:nvGrpSpPr>
        <p:cNvPr id="458" name="Shape 458"/>
        <p:cNvGrpSpPr/>
        <p:nvPr/>
      </p:nvGrpSpPr>
      <p:grpSpPr>
        <a:xfrm>
          <a:off x="0" y="0"/>
          <a:ext cx="0" cy="0"/>
          <a:chOff x="0" y="0"/>
          <a:chExt cx="0" cy="0"/>
        </a:xfrm>
      </p:grpSpPr>
      <p:sp>
        <p:nvSpPr>
          <p:cNvPr id="459" name="Google Shape;459;p37"/>
          <p:cNvSpPr/>
          <p:nvPr/>
        </p:nvSpPr>
        <p:spPr>
          <a:xfrm>
            <a:off x="0" y="0"/>
            <a:ext cx="137100" cy="6858000"/>
          </a:xfrm>
          <a:prstGeom prst="rect">
            <a:avLst/>
          </a:prstGeom>
          <a:solidFill>
            <a:srgbClr val="0E8D88"/>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0" name="Google Shape;460;p37"/>
          <p:cNvSpPr txBox="1"/>
          <p:nvPr/>
        </p:nvSpPr>
        <p:spPr>
          <a:xfrm>
            <a:off x="603504" y="502920"/>
            <a:ext cx="9875400" cy="218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73D9C4"/>
                </a:solidFill>
                <a:latin typeface="Arial"/>
                <a:ea typeface="Arial"/>
                <a:cs typeface="Arial"/>
                <a:sym typeface="Arial"/>
              </a:rPr>
              <a:t>BIG DATA AT THE EDGE  •  PROJECT PRESENTATION</a:t>
            </a:r>
            <a:endParaRPr b="0" i="0" sz="1400" u="none" cap="none" strike="noStrike">
              <a:solidFill>
                <a:srgbClr val="000000"/>
              </a:solidFill>
              <a:latin typeface="Arial"/>
              <a:ea typeface="Arial"/>
              <a:cs typeface="Arial"/>
              <a:sym typeface="Arial"/>
            </a:endParaRPr>
          </a:p>
        </p:txBody>
      </p:sp>
      <p:sp>
        <p:nvSpPr>
          <p:cNvPr id="461" name="Google Shape;461;p37"/>
          <p:cNvSpPr txBox="1"/>
          <p:nvPr/>
        </p:nvSpPr>
        <p:spPr>
          <a:xfrm>
            <a:off x="2286000" y="1714500"/>
            <a:ext cx="7620000" cy="2570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5600">
                <a:solidFill>
                  <a:srgbClr val="FFFFFF"/>
                </a:solidFill>
                <a:latin typeface="Arial"/>
                <a:ea typeface="Arial"/>
                <a:cs typeface="Arial"/>
                <a:sym typeface="Arial"/>
              </a:rPr>
              <a:t>Questions</a:t>
            </a:r>
            <a:endParaRPr b="1" i="0" sz="5600">
              <a:solidFill>
                <a:srgbClr val="FFFFFF"/>
              </a:solidFill>
              <a:latin typeface="Arial"/>
              <a:ea typeface="Arial"/>
              <a:cs typeface="Arial"/>
              <a:sym typeface="Arial"/>
            </a:endParaRPr>
          </a:p>
          <a:p>
            <a:pPr indent="0" lvl="0" marL="0" rtl="0" algn="ctr">
              <a:spcBef>
                <a:spcPts val="900"/>
              </a:spcBef>
              <a:spcAft>
                <a:spcPts val="0"/>
              </a:spcAft>
              <a:buNone/>
            </a:pPr>
            <a:r>
              <a:rPr b="1" i="0" lang="en-US" sz="4000">
                <a:solidFill>
                  <a:srgbClr val="73D9C4"/>
                </a:solidFill>
                <a:latin typeface="Arial"/>
                <a:ea typeface="Arial"/>
                <a:cs typeface="Arial"/>
                <a:sym typeface="Arial"/>
              </a:rPr>
              <a:t>&amp;</a:t>
            </a:r>
            <a:endParaRPr b="1" i="0" sz="4000">
              <a:solidFill>
                <a:srgbClr val="73D9C4"/>
              </a:solidFill>
              <a:latin typeface="Arial"/>
              <a:ea typeface="Arial"/>
              <a:cs typeface="Arial"/>
              <a:sym typeface="Arial"/>
            </a:endParaRPr>
          </a:p>
          <a:p>
            <a:pPr indent="0" lvl="0" marL="0" rtl="0" algn="ctr">
              <a:spcBef>
                <a:spcPts val="900"/>
              </a:spcBef>
              <a:spcAft>
                <a:spcPts val="0"/>
              </a:spcAft>
              <a:buNone/>
            </a:pPr>
            <a:r>
              <a:rPr b="1" i="0" lang="en-US" sz="5600">
                <a:solidFill>
                  <a:srgbClr val="FFFFFF"/>
                </a:solidFill>
                <a:latin typeface="Arial"/>
                <a:ea typeface="Arial"/>
                <a:cs typeface="Arial"/>
                <a:sym typeface="Arial"/>
              </a:rPr>
              <a:t>Answers</a:t>
            </a:r>
            <a:endParaRPr b="1" i="0" sz="5600">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66" name="Shape 466"/>
        <p:cNvGrpSpPr/>
        <p:nvPr/>
      </p:nvGrpSpPr>
      <p:grpSpPr>
        <a:xfrm>
          <a:off x="0" y="0"/>
          <a:ext cx="0" cy="0"/>
          <a:chOff x="0" y="0"/>
          <a:chExt cx="0" cy="0"/>
        </a:xfrm>
      </p:grpSpPr>
      <p:sp>
        <p:nvSpPr>
          <p:cNvPr id="467" name="Google Shape;467;p38"/>
          <p:cNvSpPr/>
          <p:nvPr/>
        </p:nvSpPr>
        <p:spPr>
          <a:xfrm>
            <a:off x="0" y="0"/>
            <a:ext cx="118872" cy="6858000"/>
          </a:xfrm>
          <a:prstGeom prst="rect">
            <a:avLst/>
          </a:prstGeom>
          <a:solidFill>
            <a:srgbClr val="DF7D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p38"/>
          <p:cNvSpPr txBox="1"/>
          <p:nvPr/>
        </p:nvSpPr>
        <p:spPr>
          <a:xfrm>
            <a:off x="594360" y="365760"/>
            <a:ext cx="10058400" cy="27432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DF7D47"/>
                </a:solidFill>
                <a:latin typeface="Arial"/>
                <a:ea typeface="Arial"/>
                <a:cs typeface="Arial"/>
                <a:sym typeface="Arial"/>
              </a:rPr>
              <a:t>BACKUP / Q&amp;A — NOT PART OF THE 10-MINUTE TALK</a:t>
            </a:r>
            <a:endParaRPr b="0" i="0" sz="1400" u="none" cap="none" strike="noStrike">
              <a:solidFill>
                <a:srgbClr val="000000"/>
              </a:solidFill>
              <a:latin typeface="Arial"/>
              <a:ea typeface="Arial"/>
              <a:cs typeface="Arial"/>
              <a:sym typeface="Arial"/>
            </a:endParaRPr>
          </a:p>
        </p:txBody>
      </p:sp>
      <p:sp>
        <p:nvSpPr>
          <p:cNvPr id="469" name="Google Shape;469;p38"/>
          <p:cNvSpPr txBox="1"/>
          <p:nvPr/>
        </p:nvSpPr>
        <p:spPr>
          <a:xfrm>
            <a:off x="594360" y="914400"/>
            <a:ext cx="10789920" cy="55778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i="0" lang="en-US" sz="2800" u="none" cap="none" strike="noStrike">
                <a:solidFill>
                  <a:srgbClr val="10273E"/>
                </a:solidFill>
                <a:latin typeface="Arial"/>
                <a:ea typeface="Arial"/>
                <a:cs typeface="Arial"/>
                <a:sym typeface="Arial"/>
              </a:rPr>
              <a:t>BACKUP • Why did policy E beat recall-priority F?</a:t>
            </a:r>
            <a:endParaRPr/>
          </a:p>
        </p:txBody>
      </p:sp>
      <p:sp>
        <p:nvSpPr>
          <p:cNvPr id="470" name="Google Shape;470;p38"/>
          <p:cNvSpPr txBox="1"/>
          <p:nvPr/>
        </p:nvSpPr>
        <p:spPr>
          <a:xfrm>
            <a:off x="612648" y="1581912"/>
            <a:ext cx="10515600" cy="61264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720" u="none" cap="none" strike="noStrike">
                <a:solidFill>
                  <a:srgbClr val="657589"/>
                </a:solidFill>
                <a:latin typeface="Arial"/>
                <a:ea typeface="Arial"/>
                <a:cs typeface="Arial"/>
                <a:sym typeface="Arial"/>
              </a:rPr>
              <a:t>The controller optimizes VALIDATION recall; held-out rankings need not match.</a:t>
            </a:r>
            <a:endParaRPr/>
          </a:p>
        </p:txBody>
      </p:sp>
      <p:sp>
        <p:nvSpPr>
          <p:cNvPr id="471" name="Google Shape;471;p38"/>
          <p:cNvSpPr/>
          <p:nvPr/>
        </p:nvSpPr>
        <p:spPr>
          <a:xfrm>
            <a:off x="685800" y="2423160"/>
            <a:ext cx="10744200" cy="2523744"/>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38"/>
          <p:cNvSpPr txBox="1"/>
          <p:nvPr/>
        </p:nvSpPr>
        <p:spPr>
          <a:xfrm>
            <a:off x="1005840" y="2807208"/>
            <a:ext cx="9966960" cy="15727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850" u="none" cap="none" strike="noStrike">
                <a:solidFill>
                  <a:srgbClr val="10273E"/>
                </a:solidFill>
                <a:latin typeface="Arial"/>
                <a:ea typeface="Arial"/>
                <a:cs typeface="Arial"/>
                <a:sym typeface="Arial"/>
              </a:rPr>
              <a:t>At b=.50:  F recall .8025 at 10.30 G  |  E .8148 at 8.78 G</a:t>
            </a:r>
            <a:endParaRPr/>
          </a:p>
          <a:p>
            <a:pPr indent="0" lvl="0" marL="0" marR="0" rtl="0" algn="l">
              <a:lnSpc>
                <a:spcPct val="100000"/>
              </a:lnSpc>
              <a:spcBef>
                <a:spcPts val="0"/>
              </a:spcBef>
              <a:spcAft>
                <a:spcPts val="0"/>
              </a:spcAft>
              <a:buNone/>
            </a:pPr>
            <a:r>
              <a:rPr b="0" i="0" lang="en-US" sz="1850" u="none" cap="none" strike="noStrike">
                <a:solidFill>
                  <a:srgbClr val="10273E"/>
                </a:solidFill>
                <a:latin typeface="Arial"/>
                <a:ea typeface="Arial"/>
                <a:cs typeface="Arial"/>
                <a:sym typeface="Arial"/>
              </a:rPr>
              <a:t>At b=.75:  F recall .8025 at 15.45 G  |  E .8148 at 8.78 G</a:t>
            </a:r>
            <a:endParaRPr/>
          </a:p>
          <a:p>
            <a:pPr indent="0" lvl="0" marL="0" marR="0" rtl="0" algn="l">
              <a:lnSpc>
                <a:spcPct val="100000"/>
              </a:lnSpc>
              <a:spcBef>
                <a:spcPts val="0"/>
              </a:spcBef>
              <a:spcAft>
                <a:spcPts val="0"/>
              </a:spcAft>
              <a:buNone/>
            </a:pPr>
            <a:r>
              <a:rPr b="0" i="0" lang="en-US" sz="1850" u="none" cap="none" strike="noStrike">
                <a:solidFill>
                  <a:srgbClr val="10273E"/>
                </a:solidFill>
                <a:latin typeface="Arial"/>
                <a:ea typeface="Arial"/>
                <a:cs typeface="Arial"/>
                <a:sym typeface="Arial"/>
              </a:rPr>
              <a:t>Mixed:      F recall .7679 at 9.63 G   |  E .7857 at 8.00 G</a:t>
            </a:r>
            <a:endParaRPr/>
          </a:p>
          <a:p>
            <a:pPr indent="0" lvl="0" marL="0" marR="0" rtl="0" algn="l">
              <a:lnSpc>
                <a:spcPct val="100000"/>
              </a:lnSpc>
              <a:spcBef>
                <a:spcPts val="0"/>
              </a:spcBef>
              <a:spcAft>
                <a:spcPts val="0"/>
              </a:spcAft>
              <a:buNone/>
            </a:pPr>
            <a:r>
              <a:t/>
            </a:r>
            <a:endParaRPr b="0" i="0" sz="1850" u="none" cap="none" strike="noStrike">
              <a:solidFill>
                <a:srgbClr val="10273E"/>
              </a:solidFill>
              <a:latin typeface="Arial"/>
              <a:ea typeface="Arial"/>
              <a:cs typeface="Arial"/>
              <a:sym typeface="Arial"/>
            </a:endParaRPr>
          </a:p>
          <a:p>
            <a:pPr indent="0" lvl="0" marL="0" marR="0" rtl="0" algn="l">
              <a:lnSpc>
                <a:spcPct val="100000"/>
              </a:lnSpc>
              <a:spcBef>
                <a:spcPts val="0"/>
              </a:spcBef>
              <a:spcAft>
                <a:spcPts val="0"/>
              </a:spcAft>
              <a:buNone/>
            </a:pPr>
            <a:r>
              <a:rPr b="0" i="0" lang="en-US" sz="1850" u="none" cap="none" strike="noStrike">
                <a:solidFill>
                  <a:srgbClr val="10273E"/>
                </a:solidFill>
                <a:latin typeface="Arial"/>
                <a:ea typeface="Arial"/>
                <a:cs typeface="Arial"/>
                <a:sym typeface="Arial"/>
              </a:rPr>
              <a:t>At b=.25 and b=1.00, F and E make identical predictions.</a:t>
            </a:r>
            <a:endParaRPr/>
          </a:p>
          <a:p>
            <a:pPr indent="0" lvl="0" marL="0" marR="0" rtl="0" algn="l">
              <a:lnSpc>
                <a:spcPct val="100000"/>
              </a:lnSpc>
              <a:spcBef>
                <a:spcPts val="0"/>
              </a:spcBef>
              <a:spcAft>
                <a:spcPts val="0"/>
              </a:spcAft>
              <a:buNone/>
            </a:pPr>
            <a:r>
              <a:rPr b="0" i="0" lang="en-US" sz="1850" u="none" cap="none" strike="noStrike">
                <a:solidFill>
                  <a:srgbClr val="10273E"/>
                </a:solidFill>
                <a:latin typeface="Arial"/>
                <a:ea typeface="Arial"/>
                <a:cs typeface="Arial"/>
                <a:sym typeface="Arial"/>
              </a:rPr>
              <a:t>F has slightly higher macro-F1 at b=.75; no all-metric winner.</a:t>
            </a:r>
            <a:endParaRPr/>
          </a:p>
        </p:txBody>
      </p:sp>
      <p:sp>
        <p:nvSpPr>
          <p:cNvPr id="473" name="Google Shape;473;p38"/>
          <p:cNvSpPr txBox="1"/>
          <p:nvPr/>
        </p:nvSpPr>
        <p:spPr>
          <a:xfrm>
            <a:off x="758952" y="5596128"/>
            <a:ext cx="9601200" cy="457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300" u="none" cap="none" strike="noStrike">
                <a:solidFill>
                  <a:srgbClr val="657589"/>
                </a:solidFill>
                <a:latin typeface="Arial"/>
                <a:ea typeface="Arial"/>
                <a:cs typeface="Arial"/>
                <a:sym typeface="Arial"/>
              </a:rPr>
              <a:t>Frozen choices; no test-set retuning. 95% paired intervals are unadjusted.</a:t>
            </a:r>
            <a:endParaRPr/>
          </a:p>
        </p:txBody>
      </p:sp>
      <p:sp>
        <p:nvSpPr>
          <p:cNvPr id="474" name="Google Shape;474;p38"/>
          <p:cNvSpPr txBox="1"/>
          <p:nvPr/>
        </p:nvSpPr>
        <p:spPr>
          <a:xfrm>
            <a:off x="676656" y="6537960"/>
            <a:ext cx="9144000" cy="1645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06E7D"/>
                </a:solidFill>
                <a:latin typeface="Arial"/>
                <a:ea typeface="Arial"/>
                <a:cs typeface="Arial"/>
                <a:sym typeface="Arial"/>
              </a:rPr>
              <a:t>BACKUP ONLY  •  DO NOT PRESENT UNLESS ASKED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492" name="Shape 492"/>
        <p:cNvGrpSpPr/>
        <p:nvPr/>
      </p:nvGrpSpPr>
      <p:grpSpPr>
        <a:xfrm>
          <a:off x="0" y="0"/>
          <a:ext cx="0" cy="0"/>
          <a:chOff x="0" y="0"/>
          <a:chExt cx="0" cy="0"/>
        </a:xfrm>
      </p:grpSpPr>
      <p:sp>
        <p:nvSpPr>
          <p:cNvPr id="493" name="Google Shape;493;p40"/>
          <p:cNvSpPr/>
          <p:nvPr/>
        </p:nvSpPr>
        <p:spPr>
          <a:xfrm>
            <a:off x="0" y="0"/>
            <a:ext cx="118872" cy="6858000"/>
          </a:xfrm>
          <a:prstGeom prst="rect">
            <a:avLst/>
          </a:prstGeom>
          <a:solidFill>
            <a:srgbClr val="DF7D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4" name="Google Shape;494;p40"/>
          <p:cNvSpPr txBox="1"/>
          <p:nvPr/>
        </p:nvSpPr>
        <p:spPr>
          <a:xfrm>
            <a:off x="594360" y="365760"/>
            <a:ext cx="10058400" cy="27432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DF7D47"/>
                </a:solidFill>
                <a:latin typeface="Arial"/>
                <a:ea typeface="Arial"/>
                <a:cs typeface="Arial"/>
                <a:sym typeface="Arial"/>
              </a:rPr>
              <a:t>BACKUP / Q&amp;A — NOT PART OF THE 10-MINUTE TALK</a:t>
            </a:r>
            <a:endParaRPr b="0" i="0" sz="1400" u="none" cap="none" strike="noStrike">
              <a:solidFill>
                <a:srgbClr val="000000"/>
              </a:solidFill>
              <a:latin typeface="Arial"/>
              <a:ea typeface="Arial"/>
              <a:cs typeface="Arial"/>
              <a:sym typeface="Arial"/>
            </a:endParaRPr>
          </a:p>
        </p:txBody>
      </p:sp>
      <p:sp>
        <p:nvSpPr>
          <p:cNvPr id="495" name="Google Shape;495;p40"/>
          <p:cNvSpPr txBox="1"/>
          <p:nvPr/>
        </p:nvSpPr>
        <p:spPr>
          <a:xfrm>
            <a:off x="594360" y="914400"/>
            <a:ext cx="10789920" cy="55778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1" i="0" lang="en-US" sz="2700" u="none" cap="none" strike="noStrike">
                <a:solidFill>
                  <a:srgbClr val="10273E"/>
                </a:solidFill>
                <a:latin typeface="Arial"/>
                <a:ea typeface="Arial"/>
                <a:cs typeface="Arial"/>
                <a:sym typeface="Arial"/>
              </a:rPr>
              <a:t>BACKUP • What the held-out test establishes</a:t>
            </a:r>
            <a:endParaRPr/>
          </a:p>
        </p:txBody>
      </p:sp>
      <p:sp>
        <p:nvSpPr>
          <p:cNvPr id="496" name="Google Shape;496;p40"/>
          <p:cNvSpPr txBox="1"/>
          <p:nvPr/>
        </p:nvSpPr>
        <p:spPr>
          <a:xfrm>
            <a:off x="612648" y="1581912"/>
            <a:ext cx="10515600" cy="61264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800" u="none" cap="none" strike="noStrike">
                <a:solidFill>
                  <a:srgbClr val="657589"/>
                </a:solidFill>
                <a:latin typeface="Arial"/>
                <a:ea typeface="Arial"/>
                <a:cs typeface="Arial"/>
                <a:sym typeface="Arial"/>
              </a:rPr>
              <a:t>One authorized, frozen evaluation • not new clinical evidence</a:t>
            </a:r>
            <a:endParaRPr/>
          </a:p>
        </p:txBody>
      </p:sp>
      <p:sp>
        <p:nvSpPr>
          <p:cNvPr id="497" name="Google Shape;497;p40"/>
          <p:cNvSpPr/>
          <p:nvPr/>
        </p:nvSpPr>
        <p:spPr>
          <a:xfrm>
            <a:off x="685800" y="2423160"/>
            <a:ext cx="10744200" cy="2523744"/>
          </a:xfrm>
          <a:prstGeom prst="roundRect">
            <a:avLst>
              <a:gd fmla="val 13000" name="adj"/>
            </a:avLst>
          </a:prstGeom>
          <a:solidFill>
            <a:srgbClr val="FFFFFF"/>
          </a:solidFill>
          <a:ln cap="flat" cmpd="sng" w="10150">
            <a:solidFill>
              <a:srgbClr val="D6E0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8" name="Google Shape;498;p40"/>
          <p:cNvSpPr txBox="1"/>
          <p:nvPr/>
        </p:nvSpPr>
        <p:spPr>
          <a:xfrm>
            <a:off x="1005840" y="2807208"/>
            <a:ext cx="9966960" cy="15727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800" u="none" cap="none" strike="noStrike">
                <a:solidFill>
                  <a:srgbClr val="10273E"/>
                </a:solidFill>
                <a:latin typeface="Arial"/>
                <a:ea typeface="Arial"/>
                <a:cs typeface="Arial"/>
                <a:sym typeface="Arial"/>
              </a:rPr>
              <a:t>265 held-out recording units (81 abnormal, 184 normal)</a:t>
            </a:r>
            <a:endParaRPr/>
          </a:p>
          <a:p>
            <a:pPr indent="0" lvl="0" marL="0" marR="0" rtl="0" algn="l">
              <a:lnSpc>
                <a:spcPct val="100000"/>
              </a:lnSpc>
              <a:spcBef>
                <a:spcPts val="0"/>
              </a:spcBef>
              <a:spcAft>
                <a:spcPts val="0"/>
              </a:spcAft>
              <a:buNone/>
            </a:pPr>
            <a:r>
              <a:rPr b="0" i="0" lang="en-US" sz="1800" u="none" cap="none" strike="noStrike">
                <a:solidFill>
                  <a:srgbClr val="10273E"/>
                </a:solidFill>
                <a:latin typeface="Arial"/>
                <a:ea typeface="Arial"/>
                <a:cs typeface="Arial"/>
                <a:sym typeface="Arial"/>
              </a:rPr>
              <a:t>32 known dependency groups • 5,000 paired bootstrap draws</a:t>
            </a:r>
            <a:endParaRPr/>
          </a:p>
          <a:p>
            <a:pPr indent="0" lvl="0" marL="0" marR="0" rtl="0" algn="l">
              <a:lnSpc>
                <a:spcPct val="100000"/>
              </a:lnSpc>
              <a:spcBef>
                <a:spcPts val="0"/>
              </a:spcBef>
              <a:spcAft>
                <a:spcPts val="0"/>
              </a:spcAft>
              <a:buNone/>
            </a:pPr>
            <a:r>
              <a:rPr b="0" i="0" lang="en-US" sz="1800" u="none" cap="none" strike="noStrike">
                <a:solidFill>
                  <a:srgbClr val="10273E"/>
                </a:solidFill>
                <a:latin typeface="Arial"/>
                <a:ea typeface="Arial"/>
                <a:cs typeface="Arial"/>
                <a:sym typeface="Arial"/>
              </a:rPr>
              <a:t>38 evaluation cells • 24 prespecified contrasts</a:t>
            </a:r>
            <a:endParaRPr/>
          </a:p>
          <a:p>
            <a:pPr indent="0" lvl="0" marL="0" marR="0" rtl="0" algn="l">
              <a:lnSpc>
                <a:spcPct val="100000"/>
              </a:lnSpc>
              <a:spcBef>
                <a:spcPts val="0"/>
              </a:spcBef>
              <a:spcAft>
                <a:spcPts val="0"/>
              </a:spcAft>
              <a:buNone/>
            </a:pPr>
            <a:r>
              <a:t/>
            </a:r>
            <a:endParaRPr b="0" i="0" sz="1800" u="none" cap="none" strike="noStrike">
              <a:solidFill>
                <a:srgbClr val="10273E"/>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0273E"/>
                </a:solidFill>
                <a:latin typeface="Arial"/>
                <a:ea typeface="Arial"/>
                <a:cs typeface="Arial"/>
                <a:sym typeface="Arial"/>
              </a:rPr>
              <a:t>Static TinyViT K16: 20% mixed-budget coverage</a:t>
            </a:r>
            <a:endParaRPr/>
          </a:p>
          <a:p>
            <a:pPr indent="0" lvl="0" marL="0" marR="0" rtl="0" algn="l">
              <a:lnSpc>
                <a:spcPct val="100000"/>
              </a:lnSpc>
              <a:spcBef>
                <a:spcPts val="0"/>
              </a:spcBef>
              <a:spcAft>
                <a:spcPts val="0"/>
              </a:spcAft>
              <a:buNone/>
            </a:pPr>
            <a:r>
              <a:rPr b="0" i="0" lang="en-US" sz="1800" u="none" cap="none" strike="noStrike">
                <a:solidFill>
                  <a:srgbClr val="10273E"/>
                </a:solidFill>
                <a:latin typeface="Arial"/>
                <a:ea typeface="Arial"/>
                <a:cs typeface="Arial"/>
                <a:sym typeface="Arial"/>
              </a:rPr>
              <a:t>Adaptive TinyViT F: 80% coverage</a:t>
            </a:r>
            <a:endParaRPr/>
          </a:p>
          <a:p>
            <a:pPr indent="0" lvl="0" marL="0" marR="0" rtl="0" algn="l">
              <a:lnSpc>
                <a:spcPct val="100000"/>
              </a:lnSpc>
              <a:spcBef>
                <a:spcPts val="0"/>
              </a:spcBef>
              <a:spcAft>
                <a:spcPts val="0"/>
              </a:spcAft>
              <a:buNone/>
            </a:pPr>
            <a:r>
              <a:rPr b="0" i="0" lang="en-US" sz="1800" u="none" cap="none" strike="noStrike">
                <a:solidFill>
                  <a:srgbClr val="10273E"/>
                </a:solidFill>
                <a:latin typeface="Arial"/>
                <a:ea typeface="Arial"/>
                <a:cs typeface="Arial"/>
                <a:sym typeface="Arial"/>
              </a:rPr>
              <a:t>MobileNetV2 A: also 80% coverage, at lower modeled cost</a:t>
            </a:r>
            <a:endParaRPr/>
          </a:p>
          <a:p>
            <a:pPr indent="0" lvl="0" marL="0" marR="0" rtl="0" algn="l">
              <a:lnSpc>
                <a:spcPct val="100000"/>
              </a:lnSpc>
              <a:spcBef>
                <a:spcPts val="0"/>
              </a:spcBef>
              <a:spcAft>
                <a:spcPts val="0"/>
              </a:spcAft>
              <a:buNone/>
            </a:pPr>
            <a:r>
              <a:t/>
            </a:r>
            <a:endParaRPr b="0" i="0" sz="1800" u="none" cap="none" strike="noStrike">
              <a:solidFill>
                <a:srgbClr val="10273E"/>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0273E"/>
                </a:solidFill>
                <a:latin typeface="Arial"/>
                <a:ea typeface="Arial"/>
                <a:cs typeface="Arial"/>
                <a:sym typeface="Arial"/>
              </a:rPr>
              <a:t>Quality only on served units; paired contrasts use shared served units.</a:t>
            </a:r>
            <a:endParaRPr/>
          </a:p>
        </p:txBody>
      </p:sp>
      <p:sp>
        <p:nvSpPr>
          <p:cNvPr id="499" name="Google Shape;499;p40"/>
          <p:cNvSpPr txBox="1"/>
          <p:nvPr/>
        </p:nvSpPr>
        <p:spPr>
          <a:xfrm>
            <a:off x="758952" y="5596128"/>
            <a:ext cx="9601200" cy="457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None/>
            </a:pPr>
            <a:r>
              <a:rPr b="0" i="0" lang="en-US" sz="1150" u="none" cap="none" strike="noStrike">
                <a:solidFill>
                  <a:srgbClr val="657589"/>
                </a:solidFill>
                <a:latin typeface="Arial"/>
                <a:ea typeface="Arial"/>
                <a:cs typeface="Arial"/>
                <a:sym typeface="Arial"/>
              </a:rPr>
              <a:t>Known-group protection ≠ known distinct patients; OpenPOCUS remains a technical proxy.</a:t>
            </a:r>
            <a:endParaRPr/>
          </a:p>
        </p:txBody>
      </p:sp>
      <p:sp>
        <p:nvSpPr>
          <p:cNvPr id="500" name="Google Shape;500;p40"/>
          <p:cNvSpPr txBox="1"/>
          <p:nvPr/>
        </p:nvSpPr>
        <p:spPr>
          <a:xfrm>
            <a:off x="676656" y="6537960"/>
            <a:ext cx="9144000" cy="1645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06E7D"/>
                </a:solidFill>
                <a:latin typeface="Arial"/>
                <a:ea typeface="Arial"/>
                <a:cs typeface="Arial"/>
                <a:sym typeface="Arial"/>
              </a:rPr>
              <a:t>BACKUP ONLY  •  DO NOT PRESENT UNLESS ASKED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B"/>
        </a:solidFill>
      </p:bgPr>
    </p:bg>
    <p:spTree>
      <p:nvGrpSpPr>
        <p:cNvPr id="572" name="Shape 572"/>
        <p:cNvGrpSpPr/>
        <p:nvPr/>
      </p:nvGrpSpPr>
      <p:grpSpPr>
        <a:xfrm>
          <a:off x="0" y="0"/>
          <a:ext cx="0" cy="0"/>
          <a:chOff x="0" y="0"/>
          <a:chExt cx="0" cy="0"/>
        </a:xfrm>
      </p:grpSpPr>
      <p:sp>
        <p:nvSpPr>
          <p:cNvPr id="573" name="Google Shape;573;p44"/>
          <p:cNvSpPr/>
          <p:nvPr/>
        </p:nvSpPr>
        <p:spPr>
          <a:xfrm>
            <a:off x="0" y="0"/>
            <a:ext cx="118872" cy="6858000"/>
          </a:xfrm>
          <a:prstGeom prst="rect">
            <a:avLst/>
          </a:prstGeom>
          <a:solidFill>
            <a:srgbClr val="DF7D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4" name="Google Shape;574;p44"/>
          <p:cNvSpPr txBox="1"/>
          <p:nvPr/>
        </p:nvSpPr>
        <p:spPr>
          <a:xfrm>
            <a:off x="594360" y="365760"/>
            <a:ext cx="10058400" cy="27432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DF7D47"/>
                </a:solidFill>
                <a:latin typeface="Arial"/>
                <a:ea typeface="Arial"/>
                <a:cs typeface="Arial"/>
                <a:sym typeface="Arial"/>
              </a:rPr>
              <a:t>BACKUP / Q&amp;A — NOT PART OF THE 10-MINUTE TALK</a:t>
            </a:r>
            <a:endParaRPr b="0" i="0" sz="1400" u="none" cap="none" strike="noStrike">
              <a:solidFill>
                <a:srgbClr val="000000"/>
              </a:solidFill>
              <a:latin typeface="Arial"/>
              <a:ea typeface="Arial"/>
              <a:cs typeface="Arial"/>
              <a:sym typeface="Arial"/>
            </a:endParaRPr>
          </a:p>
        </p:txBody>
      </p:sp>
      <p:sp>
        <p:nvSpPr>
          <p:cNvPr id="575" name="Google Shape;575;p44"/>
          <p:cNvSpPr txBox="1"/>
          <p:nvPr/>
        </p:nvSpPr>
        <p:spPr>
          <a:xfrm>
            <a:off x="594360" y="914400"/>
            <a:ext cx="10789920" cy="55778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0273E"/>
                </a:solidFill>
                <a:latin typeface="Arial"/>
                <a:ea typeface="Arial"/>
                <a:cs typeface="Arial"/>
                <a:sym typeface="Arial"/>
              </a:rPr>
              <a:t>BACKUP • Why 16 spread frames?</a:t>
            </a:r>
            <a:endParaRPr b="0" i="0" sz="1400" u="none" cap="none" strike="noStrike">
              <a:solidFill>
                <a:srgbClr val="000000"/>
              </a:solidFill>
              <a:latin typeface="Arial"/>
              <a:ea typeface="Arial"/>
              <a:cs typeface="Arial"/>
              <a:sym typeface="Arial"/>
            </a:endParaRPr>
          </a:p>
        </p:txBody>
      </p:sp>
      <p:sp>
        <p:nvSpPr>
          <p:cNvPr id="576" name="Google Shape;576;p44"/>
          <p:cNvSpPr txBox="1"/>
          <p:nvPr/>
        </p:nvSpPr>
        <p:spPr>
          <a:xfrm>
            <a:off x="612648" y="1581912"/>
            <a:ext cx="10515600" cy="61264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57589"/>
                </a:solidFill>
                <a:latin typeface="Arial"/>
                <a:ea typeface="Arial"/>
                <a:cs typeface="Arial"/>
                <a:sym typeface="Arial"/>
              </a:rPr>
              <a:t>16 was set before training • afterwards we tested whether it holds up</a:t>
            </a:r>
            <a:endParaRPr b="0" i="0" sz="1400" u="none" cap="none" strike="noStrike">
              <a:solidFill>
                <a:srgbClr val="000000"/>
              </a:solidFill>
              <a:latin typeface="Arial"/>
              <a:ea typeface="Arial"/>
              <a:cs typeface="Arial"/>
              <a:sym typeface="Arial"/>
            </a:endParaRPr>
          </a:p>
        </p:txBody>
      </p:sp>
      <p:sp>
        <p:nvSpPr>
          <p:cNvPr id="577" name="Google Shape;577;p44"/>
          <p:cNvSpPr txBox="1"/>
          <p:nvPr/>
        </p:nvSpPr>
        <p:spPr>
          <a:xfrm>
            <a:off x="758952" y="5596128"/>
            <a:ext cx="9601200" cy="457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657589"/>
                </a:solidFill>
                <a:latin typeface="Arial"/>
                <a:ea typeface="Arial"/>
                <a:cs typeface="Arial"/>
                <a:sym typeface="Arial"/>
              </a:rPr>
              <a:t>All on validation (254 units) • TinyViT trained at 16 frames, tested at fewer without retraining</a:t>
            </a:r>
            <a:endParaRPr b="0" i="0" sz="1400" u="none" cap="none" strike="noStrike">
              <a:solidFill>
                <a:srgbClr val="000000"/>
              </a:solidFill>
              <a:latin typeface="Arial"/>
              <a:ea typeface="Arial"/>
              <a:cs typeface="Arial"/>
              <a:sym typeface="Arial"/>
            </a:endParaRPr>
          </a:p>
        </p:txBody>
      </p:sp>
      <p:sp>
        <p:nvSpPr>
          <p:cNvPr id="578" name="Google Shape;578;p44"/>
          <p:cNvSpPr txBox="1"/>
          <p:nvPr/>
        </p:nvSpPr>
        <p:spPr>
          <a:xfrm>
            <a:off x="676656" y="6537960"/>
            <a:ext cx="9144000" cy="1645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06E7D"/>
                </a:solidFill>
                <a:latin typeface="Arial"/>
                <a:ea typeface="Arial"/>
                <a:cs typeface="Arial"/>
                <a:sym typeface="Arial"/>
              </a:rPr>
              <a:t>BACKUP ONLY  •  DO NOT PRESENT UNLESS ASKED</a:t>
            </a:r>
            <a:endParaRPr b="0" i="0" sz="1400" u="none" cap="none" strike="noStrike">
              <a:solidFill>
                <a:srgbClr val="000000"/>
              </a:solidFill>
              <a:latin typeface="Arial"/>
              <a:ea typeface="Arial"/>
              <a:cs typeface="Arial"/>
              <a:sym typeface="Arial"/>
            </a:endParaRPr>
          </a:p>
        </p:txBody>
      </p:sp>
      <p:graphicFrame>
        <p:nvGraphicFramePr>
          <p:cNvPr id="579" name="Google Shape;579;p44"/>
          <p:cNvGraphicFramePr/>
          <p:nvPr/>
        </p:nvGraphicFramePr>
        <p:xfrm>
          <a:off x="685800" y="2240280"/>
          <a:ext cx="3000000" cy="3000000"/>
        </p:xfrm>
        <a:graphic>
          <a:graphicData uri="http://schemas.openxmlformats.org/drawingml/2006/table">
            <a:tbl>
              <a:tblPr>
                <a:noFill/>
                <a:tableStyleId>{C18B13CB-DE5A-421C-B712-8F18BBA52C59}</a:tableStyleId>
              </a:tblPr>
              <a:tblGrid>
                <a:gridCol w="4206250"/>
                <a:gridCol w="5623550"/>
                <a:gridCol w="914400"/>
              </a:tblGrid>
              <a:tr h="502925">
                <a:tc>
                  <a:txBody>
                    <a:bodyPr/>
                    <a:lstStyle/>
                    <a:p>
                      <a:pPr indent="0" lvl="0" marL="0" marR="0" rtl="0" algn="l">
                        <a:lnSpc>
                          <a:spcPct val="100000"/>
                        </a:lnSpc>
                        <a:spcBef>
                          <a:spcPts val="0"/>
                        </a:spcBef>
                        <a:spcAft>
                          <a:spcPts val="0"/>
                        </a:spcAft>
                        <a:buNone/>
                      </a:pPr>
                      <a:r>
                        <a:rPr b="1" lang="en-US" sz="1300" u="none" cap="none" strike="noStrike">
                          <a:solidFill>
                            <a:srgbClr val="0E8D88"/>
                          </a:solidFill>
                          <a:latin typeface="Arial"/>
                          <a:ea typeface="Arial"/>
                          <a:cs typeface="Arial"/>
                          <a:sym typeface="Arial"/>
                        </a:rPr>
                        <a:t>what we tried</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E3F4F2"/>
                    </a:solidFill>
                  </a:tcPr>
                </a:tc>
                <a:tc>
                  <a:txBody>
                    <a:bodyPr/>
                    <a:lstStyle/>
                    <a:p>
                      <a:pPr indent="0" lvl="0" marL="0" marR="0" rtl="0" algn="l">
                        <a:lnSpc>
                          <a:spcPct val="100000"/>
                        </a:lnSpc>
                        <a:spcBef>
                          <a:spcPts val="0"/>
                        </a:spcBef>
                        <a:spcAft>
                          <a:spcPts val="0"/>
                        </a:spcAft>
                        <a:buNone/>
                      </a:pPr>
                      <a:r>
                        <a:rPr b="1" lang="en-US" sz="1300" u="none" cap="none" strike="noStrike">
                          <a:solidFill>
                            <a:srgbClr val="0E8D88"/>
                          </a:solidFill>
                          <a:latin typeface="Arial"/>
                          <a:ea typeface="Arial"/>
                          <a:cs typeface="Arial"/>
                          <a:sym typeface="Arial"/>
                        </a:rPr>
                        <a:t>result</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E3F4F2"/>
                    </a:solidFill>
                  </a:tcPr>
                </a:tc>
                <a:tc>
                  <a:txBody>
                    <a:bodyPr/>
                    <a:lstStyle/>
                    <a:p>
                      <a:pPr indent="0" lvl="0" marL="0" marR="0" rtl="0" algn="l">
                        <a:lnSpc>
                          <a:spcPct val="100000"/>
                        </a:lnSpc>
                        <a:spcBef>
                          <a:spcPts val="0"/>
                        </a:spcBef>
                        <a:spcAft>
                          <a:spcPts val="0"/>
                        </a:spcAft>
                        <a:buNone/>
                      </a:pPr>
                      <a:r>
                        <a:rPr b="1" lang="en-US" sz="1300" u="none" cap="none" strike="noStrike">
                          <a:solidFill>
                            <a:srgbClr val="0E8D88"/>
                          </a:solidFill>
                          <a:latin typeface="Arial"/>
                          <a:ea typeface="Arial"/>
                          <a:cs typeface="Arial"/>
                          <a:sym typeface="Arial"/>
                        </a:rPr>
                        <a:t>source</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E3F4F2"/>
                    </a:solidFill>
                  </a:tcPr>
                </a:tc>
              </a:tr>
              <a:tr h="621800">
                <a:tc>
                  <a:txBody>
                    <a:bodyPr/>
                    <a:lstStyle/>
                    <a:p>
                      <a:pPr indent="0" lvl="0" marL="0" marR="0" rtl="0" algn="l">
                        <a:lnSpc>
                          <a:spcPct val="100000"/>
                        </a:lnSpc>
                        <a:spcBef>
                          <a:spcPts val="0"/>
                        </a:spcBef>
                        <a:spcAft>
                          <a:spcPts val="0"/>
                        </a:spcAft>
                        <a:buNone/>
                      </a:pPr>
                      <a:r>
                        <a:rPr b="1" lang="en-US" sz="1500" u="none" cap="none" strike="noStrike">
                          <a:solidFill>
                            <a:srgbClr val="112539"/>
                          </a:solidFill>
                          <a:latin typeface="Arial"/>
                          <a:ea typeface="Arial"/>
                          <a:cs typeface="Arial"/>
                          <a:sym typeface="Arial"/>
                        </a:rPr>
                        <a:t>All frames</a:t>
                      </a:r>
                      <a:r>
                        <a:rPr b="0" lang="en-US" sz="1500" u="none" cap="none" strike="noStrike">
                          <a:solidFill>
                            <a:srgbClr val="112539"/>
                          </a:solidFill>
                          <a:latin typeface="Arial"/>
                          <a:ea typeface="Arial"/>
                          <a:cs typeface="Arial"/>
                          <a:sym typeface="Arial"/>
                        </a:rPr>
                        <a:t> (median ~143 per video) vs 16</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112539"/>
                          </a:solidFill>
                          <a:latin typeface="Arial"/>
                          <a:ea typeface="Arial"/>
                          <a:cs typeface="Arial"/>
                          <a:sym typeface="Arial"/>
                        </a:rPr>
                        <a:t>no better: macro-F1 0.870 vs 0.874, at ~184 vs 20.6 GFLOPs</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5B6B7A"/>
                          </a:solidFill>
                          <a:latin typeface="Arial"/>
                          <a:ea typeface="Arial"/>
                          <a:cs typeface="Arial"/>
                          <a:sym typeface="Arial"/>
                        </a:rPr>
                        <a:t>F004</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r>
              <a:tr h="621800">
                <a:tc>
                  <a:txBody>
                    <a:bodyPr/>
                    <a:lstStyle/>
                    <a:p>
                      <a:pPr indent="0" lvl="0" marL="0" marR="0" rtl="0" algn="l">
                        <a:lnSpc>
                          <a:spcPct val="100000"/>
                        </a:lnSpc>
                        <a:spcBef>
                          <a:spcPts val="0"/>
                        </a:spcBef>
                        <a:spcAft>
                          <a:spcPts val="0"/>
                        </a:spcAft>
                        <a:buNone/>
                      </a:pPr>
                      <a:r>
                        <a:rPr b="1" lang="en-US" sz="1500" u="none" cap="none" strike="noStrike">
                          <a:solidFill>
                            <a:srgbClr val="112539"/>
                          </a:solidFill>
                          <a:latin typeface="Arial"/>
                          <a:ea typeface="Arial"/>
                          <a:cs typeface="Arial"/>
                          <a:sym typeface="Arial"/>
                        </a:rPr>
                        <a:t>Fewer frames</a:t>
                      </a:r>
                      <a:r>
                        <a:rPr b="0" lang="en-US" sz="1500" u="none" cap="none" strike="noStrike">
                          <a:solidFill>
                            <a:srgbClr val="112539"/>
                          </a:solidFill>
                          <a:latin typeface="Arial"/>
                          <a:ea typeface="Arial"/>
                          <a:cs typeface="Arial"/>
                          <a:sym typeface="Arial"/>
                        </a:rPr>
                        <a:t>: 1, 2, 4, 8, 12, 16</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112539"/>
                          </a:solidFill>
                          <a:latin typeface="Arial"/>
                          <a:ea typeface="Arial"/>
                          <a:cs typeface="Arial"/>
                          <a:sym typeface="Arial"/>
                        </a:rPr>
                        <a:t>8 ≈ 16, 4 slightly lower, 1 and 2 clearly lower</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5B6B7A"/>
                          </a:solidFill>
                          <a:latin typeface="Arial"/>
                          <a:ea typeface="Arial"/>
                          <a:cs typeface="Arial"/>
                          <a:sym typeface="Arial"/>
                        </a:rPr>
                        <a:t>F003</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r>
              <a:tr h="621800">
                <a:tc>
                  <a:txBody>
                    <a:bodyPr/>
                    <a:lstStyle/>
                    <a:p>
                      <a:pPr indent="0" lvl="0" marL="0" marR="0" rtl="0" algn="l">
                        <a:lnSpc>
                          <a:spcPct val="100000"/>
                        </a:lnSpc>
                        <a:spcBef>
                          <a:spcPts val="0"/>
                        </a:spcBef>
                        <a:spcAft>
                          <a:spcPts val="0"/>
                        </a:spcAft>
                        <a:buNone/>
                      </a:pPr>
                      <a:r>
                        <a:rPr b="1" lang="en-US" sz="1500" u="none" cap="none" strike="noStrike">
                          <a:solidFill>
                            <a:srgbClr val="112539"/>
                          </a:solidFill>
                          <a:latin typeface="Arial"/>
                          <a:ea typeface="Arial"/>
                          <a:cs typeface="Arial"/>
                          <a:sym typeface="Arial"/>
                        </a:rPr>
                        <a:t>Spread vs consecutive</a:t>
                      </a:r>
                      <a:r>
                        <a:rPr b="0" lang="en-US" sz="1500" u="none" cap="none" strike="noStrike">
                          <a:solidFill>
                            <a:srgbClr val="112539"/>
                          </a:solidFill>
                          <a:latin typeface="Arial"/>
                          <a:ea typeface="Arial"/>
                          <a:cs typeface="Arial"/>
                          <a:sym typeface="Arial"/>
                        </a:rPr>
                        <a:t> (4 in a row vs 4 spread out)</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112539"/>
                          </a:solidFill>
                          <a:latin typeface="Arial"/>
                          <a:ea typeface="Arial"/>
                          <a:cs typeface="Arial"/>
                          <a:sym typeface="Arial"/>
                        </a:rPr>
                        <a:t>spread better at 4 (p = 0.04); smaller at 8, none at 16</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5B6B7A"/>
                          </a:solidFill>
                          <a:latin typeface="Arial"/>
                          <a:ea typeface="Arial"/>
                          <a:cs typeface="Arial"/>
                          <a:sym typeface="Arial"/>
                        </a:rPr>
                        <a:t>F003</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r>
              <a:tr h="621800">
                <a:tc>
                  <a:txBody>
                    <a:bodyPr/>
                    <a:lstStyle/>
                    <a:p>
                      <a:pPr indent="0" lvl="0" marL="0" marR="0" rtl="0" algn="l">
                        <a:lnSpc>
                          <a:spcPct val="100000"/>
                        </a:lnSpc>
                        <a:spcBef>
                          <a:spcPts val="0"/>
                        </a:spcBef>
                        <a:spcAft>
                          <a:spcPts val="0"/>
                        </a:spcAft>
                        <a:buNone/>
                      </a:pPr>
                      <a:r>
                        <a:rPr b="1" lang="en-US" sz="1500" u="none" cap="none" strike="noStrike">
                          <a:solidFill>
                            <a:srgbClr val="112539"/>
                          </a:solidFill>
                          <a:latin typeface="Arial"/>
                          <a:ea typeface="Arial"/>
                          <a:cs typeface="Arial"/>
                          <a:sym typeface="Arial"/>
                        </a:rPr>
                        <a:t>Coverage of the spread</a:t>
                      </a:r>
                      <a:r>
                        <a:rPr b="0" lang="en-US" sz="1500" u="none" cap="none" strike="noStrike">
                          <a:solidFill>
                            <a:srgbClr val="112539"/>
                          </a:solidFill>
                          <a:latin typeface="Arial"/>
                          <a:ea typeface="Arial"/>
                          <a:cs typeface="Arial"/>
                          <a:sym typeface="Arial"/>
                        </a:rPr>
                        <a:t> (first 25, 50, 75 or 100% of clip)</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112539"/>
                          </a:solidFill>
                          <a:latin typeface="Arial"/>
                          <a:ea typeface="Arial"/>
                          <a:cs typeface="Arial"/>
                          <a:sym typeface="Arial"/>
                        </a:rPr>
                        <a:t>no measurable difference</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1500" u="none" cap="none" strike="noStrike">
                          <a:solidFill>
                            <a:srgbClr val="5B6B7A"/>
                          </a:solidFill>
                          <a:latin typeface="Arial"/>
                          <a:ea typeface="Arial"/>
                          <a:cs typeface="Arial"/>
                          <a:sym typeface="Arial"/>
                        </a:rPr>
                        <a:t>F003</a:t>
                      </a:r>
                      <a:endParaRPr/>
                    </a:p>
                  </a:txBody>
                  <a:tcPr marT="73150" marB="73150" marR="137150" marL="137150" anchor="ctr">
                    <a:lnL cap="flat" cmpd="sng" w="9525">
                      <a:solidFill>
                        <a:srgbClr val="D5DCE2"/>
                      </a:solidFill>
                      <a:prstDash val="solid"/>
                      <a:round/>
                      <a:headEnd len="sm" w="sm" type="none"/>
                      <a:tailEnd len="sm" w="sm" type="none"/>
                    </a:lnL>
                    <a:lnR cap="flat" cmpd="sng" w="9525">
                      <a:solidFill>
                        <a:srgbClr val="D5DCE2"/>
                      </a:solidFill>
                      <a:prstDash val="solid"/>
                      <a:round/>
                      <a:headEnd len="sm" w="sm" type="none"/>
                      <a:tailEnd len="sm" w="sm" type="none"/>
                    </a:lnR>
                    <a:lnT cap="flat" cmpd="sng" w="9525">
                      <a:solidFill>
                        <a:srgbClr val="D5DCE2"/>
                      </a:solidFill>
                      <a:prstDash val="solid"/>
                      <a:round/>
                      <a:headEnd len="sm" w="sm" type="none"/>
                      <a:tailEnd len="sm" w="sm" type="none"/>
                    </a:lnT>
                    <a:lnB cap="flat" cmpd="sng" w="9525">
                      <a:solidFill>
                        <a:srgbClr val="D5DCE2"/>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